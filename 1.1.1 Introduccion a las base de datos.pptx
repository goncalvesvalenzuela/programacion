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4"/>
  </p:notesMasterIdLst>
  <p:sldIdLst>
    <p:sldId id="261" r:id="rId5"/>
    <p:sldId id="337" r:id="rId6"/>
    <p:sldId id="344" r:id="rId7"/>
    <p:sldId id="339" r:id="rId8"/>
    <p:sldId id="346" r:id="rId9"/>
    <p:sldId id="270" r:id="rId10"/>
    <p:sldId id="340" r:id="rId11"/>
    <p:sldId id="347" r:id="rId12"/>
    <p:sldId id="327" r:id="rId13"/>
    <p:sldId id="341" r:id="rId14"/>
    <p:sldId id="350" r:id="rId15"/>
    <p:sldId id="348" r:id="rId16"/>
    <p:sldId id="345" r:id="rId17"/>
    <p:sldId id="349" r:id="rId18"/>
    <p:sldId id="351" r:id="rId19"/>
    <p:sldId id="352" r:id="rId20"/>
    <p:sldId id="353" r:id="rId21"/>
    <p:sldId id="354" r:id="rId22"/>
    <p:sldId id="355" r:id="rId2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4EC4"/>
    <a:srgbClr val="C4D600"/>
    <a:srgbClr val="257CE1"/>
    <a:srgbClr val="C2D501"/>
    <a:srgbClr val="DB0532"/>
    <a:srgbClr val="FF595A"/>
    <a:srgbClr val="D39F17"/>
    <a:srgbClr val="58C0E9"/>
    <a:srgbClr val="DC0031"/>
    <a:srgbClr val="EF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9316" autoAdjust="0"/>
  </p:normalViewPr>
  <p:slideViewPr>
    <p:cSldViewPr>
      <p:cViewPr>
        <p:scale>
          <a:sx n="33" d="100"/>
          <a:sy n="33" d="100"/>
        </p:scale>
        <p:origin x="848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21-02-2024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1602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571969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hrconnect.cl/engagement/6-preguntas-para-que-los-jefes-aumenten-el-compromiso-de-sus-colaboradores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BDY1101</a:t>
            </a:r>
            <a:br>
              <a:rPr lang="es-CL" sz="3800" spc="-10" dirty="0"/>
            </a:br>
            <a:r>
              <a:rPr lang="es-CL" sz="3800" b="0" dirty="0"/>
              <a:t>Introducción a las Base de Datos</a:t>
            </a:r>
            <a:endParaRPr lang="es-CL" sz="38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SGBD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E8DCEDB-0701-9E4F-B841-31F2AEF95FCF}"/>
              </a:ext>
            </a:extLst>
          </p:cNvPr>
          <p:cNvSpPr txBox="1">
            <a:spLocks/>
          </p:cNvSpPr>
          <p:nvPr/>
        </p:nvSpPr>
        <p:spPr>
          <a:xfrm>
            <a:off x="14771968" y="478248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MX" sz="3000" dirty="0"/>
              <a:t>D</a:t>
            </a:r>
            <a:r>
              <a:rPr lang="es-CL" sz="3000" dirty="0"/>
              <a:t>ato vs Información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AC1579C5-4858-4D42-8518-8DA881E7E42D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B7BC9C2C-1609-FF42-8176-8EB1FA8D8551}"/>
              </a:ext>
            </a:extLst>
          </p:cNvPr>
          <p:cNvSpPr txBox="1">
            <a:spLocks/>
          </p:cNvSpPr>
          <p:nvPr/>
        </p:nvSpPr>
        <p:spPr>
          <a:xfrm>
            <a:off x="14779065" y="7026177"/>
            <a:ext cx="418390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MX" sz="3000" dirty="0"/>
              <a:t>Ventajas +</a:t>
            </a:r>
            <a:br>
              <a:rPr lang="es-MX" sz="3000" dirty="0"/>
            </a:br>
            <a:r>
              <a:rPr lang="es-MX" sz="3000" dirty="0"/>
              <a:t>Desventajas -</a:t>
            </a:r>
            <a:endParaRPr lang="es-CL" sz="3000" dirty="0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0BE2EF9-7124-C94F-B2CA-C7A9C485A48E}"/>
              </a:ext>
            </a:extLst>
          </p:cNvPr>
          <p:cNvSpPr txBox="1">
            <a:spLocks/>
          </p:cNvSpPr>
          <p:nvPr/>
        </p:nvSpPr>
        <p:spPr>
          <a:xfrm>
            <a:off x="14656174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Conocimientos Previos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5DC5B8-ADAA-3B41-B124-B4C0C06EF7ED}"/>
              </a:ext>
            </a:extLst>
          </p:cNvPr>
          <p:cNvSpPr txBox="1">
            <a:spLocks/>
          </p:cNvSpPr>
          <p:nvPr/>
        </p:nvSpPr>
        <p:spPr>
          <a:xfrm>
            <a:off x="9617262" y="9269866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Abstracción de Datos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D1114FB-F8C2-BBD4-9394-5C042226D023}"/>
              </a:ext>
            </a:extLst>
          </p:cNvPr>
          <p:cNvSpPr txBox="1">
            <a:spLocks/>
          </p:cNvSpPr>
          <p:nvPr/>
        </p:nvSpPr>
        <p:spPr>
          <a:xfrm>
            <a:off x="9518650" y="8507866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650" y="7559675"/>
            <a:ext cx="12649200" cy="1015663"/>
          </a:xfrm>
        </p:spPr>
        <p:txBody>
          <a:bodyPr/>
          <a:lstStyle/>
          <a:p>
            <a:pPr algn="r"/>
            <a:r>
              <a:rPr lang="es-CL" sz="6600" dirty="0"/>
              <a:t>CONOCIMIENTOS PREVIOS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4800" dirty="0"/>
              <a:t>CONOCIMIENTOS PREVIOS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CAB5BC-5A14-4039-B5DE-FC66EF176185}"/>
              </a:ext>
            </a:extLst>
          </p:cNvPr>
          <p:cNvSpPr txBox="1"/>
          <p:nvPr/>
        </p:nvSpPr>
        <p:spPr>
          <a:xfrm>
            <a:off x="1882166" y="4374188"/>
            <a:ext cx="16339769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4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¿Qué sabes sobre base de datos?</a:t>
            </a:r>
            <a:endParaRPr lang="es-MX" sz="48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4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¿Dato o información?</a:t>
            </a:r>
            <a:endParaRPr lang="es-MX" sz="48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4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¿Para qué se utilizan las bases de datos?</a:t>
            </a:r>
            <a:endParaRPr lang="es-MX" sz="48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4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¿Qué son los Sistemas Administradores y Gestores de Bases de Datos?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800" dirty="0"/>
              <a:t>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CAB5BC-5A14-4039-B5DE-FC66EF176185}"/>
              </a:ext>
            </a:extLst>
          </p:cNvPr>
          <p:cNvSpPr txBox="1"/>
          <p:nvPr/>
        </p:nvSpPr>
        <p:spPr>
          <a:xfrm>
            <a:off x="3080544" y="3663990"/>
            <a:ext cx="13943012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0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Una Base de Datos es una colección de datos que pertenecen a un mismo contexto y que son almacenados o guardados para su posterior uso.</a:t>
            </a:r>
            <a:endParaRPr lang="es-MX" sz="40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MX" sz="4000" b="0" i="0" u="none" strike="noStrike" dirty="0">
              <a:solidFill>
                <a:srgbClr val="818990"/>
              </a:solidFill>
              <a:effectLst/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40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Se conoce también como una colección organizada de información estructurada, que normalmente se almacena de forma electrónica en un sistema informático. </a:t>
            </a:r>
            <a:endParaRPr lang="es-CL" sz="7200" dirty="0"/>
          </a:p>
        </p:txBody>
      </p:sp>
    </p:spTree>
    <p:extLst>
      <p:ext uri="{BB962C8B-B14F-4D97-AF65-F5344CB8AC3E}">
        <p14:creationId xmlns:p14="http://schemas.microsoft.com/office/powerpoint/2010/main" val="417289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DATO vs INFORMACIÓN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DATO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5F5083-FDF1-4A39-9510-35799169FD74}"/>
              </a:ext>
            </a:extLst>
          </p:cNvPr>
          <p:cNvSpPr txBox="1"/>
          <p:nvPr/>
        </p:nvSpPr>
        <p:spPr>
          <a:xfrm>
            <a:off x="11195050" y="3328397"/>
            <a:ext cx="6971506" cy="465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36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 </a:t>
            </a:r>
            <a:r>
              <a:rPr lang="es-MX" sz="36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dato </a:t>
            </a:r>
            <a:r>
              <a:rPr lang="es-MX" sz="36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es una representación simbólica, la cual puede ser fácilmente vista como números, letras, hechos, situaciones, entre otros.</a:t>
            </a:r>
            <a:endParaRPr lang="es-MX" sz="36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36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Además, es toda secuencia de uno o más símbolos a los que se les da un significado válido.</a:t>
            </a:r>
            <a:endParaRPr lang="es-MX" sz="36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C614FA-7FA3-4666-83B5-913854E94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7"/>
          <a:stretch/>
        </p:blipFill>
        <p:spPr bwMode="auto">
          <a:xfrm>
            <a:off x="727227" y="3361075"/>
            <a:ext cx="9264226" cy="458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INFORMACIÓN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5F5083-FDF1-4A39-9510-35799169FD74}"/>
              </a:ext>
            </a:extLst>
          </p:cNvPr>
          <p:cNvSpPr txBox="1"/>
          <p:nvPr/>
        </p:nvSpPr>
        <p:spPr>
          <a:xfrm>
            <a:off x="831850" y="2561521"/>
            <a:ext cx="6858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36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A diferencia del dato, la información es un conjunto de datos que están adecuadamente manipulados entregando mensaje al receptor. </a:t>
            </a:r>
            <a:r>
              <a:rPr lang="es-MX" sz="3600" dirty="0">
                <a:solidFill>
                  <a:srgbClr val="818990"/>
                </a:solidFill>
                <a:latin typeface="Calibri" panose="020F0502020204030204" pitchFamily="34" charset="0"/>
              </a:rPr>
              <a:t>Al procesar esta información, se construyen así tableros con indicadores claves con reportes de ventas, temperaturas, totales, y una serie de asuntos que dependiendo del contexto entregan valor para la toma de decisiones.</a:t>
            </a:r>
            <a:endParaRPr lang="es-MX" sz="3600" b="0" i="0" u="none" strike="noStrike" dirty="0">
              <a:solidFill>
                <a:srgbClr val="DE3075"/>
              </a:solidFill>
              <a:effectLst/>
              <a:latin typeface="Franklin Gothic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D4734-6CEE-47DE-B2DC-C8804BEE2C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3" t="14233" r="48483" b="5325"/>
          <a:stretch/>
        </p:blipFill>
        <p:spPr>
          <a:xfrm>
            <a:off x="8528050" y="2770339"/>
            <a:ext cx="10988985" cy="576867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692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1015663"/>
          </a:xfrm>
        </p:spPr>
        <p:txBody>
          <a:bodyPr/>
          <a:lstStyle/>
          <a:p>
            <a:r>
              <a:rPr lang="es-CL" sz="6600" dirty="0"/>
              <a:t>SGBD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SISTEMA GESTOR DE BASE DE DATOS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780E6F-4A9E-4D32-96CB-24433FEE6E81}"/>
              </a:ext>
            </a:extLst>
          </p:cNvPr>
          <p:cNvSpPr txBox="1"/>
          <p:nvPr/>
        </p:nvSpPr>
        <p:spPr>
          <a:xfrm>
            <a:off x="679450" y="3082176"/>
            <a:ext cx="914400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1000"/>
              </a:spcBef>
              <a:spcAft>
                <a:spcPts val="0"/>
              </a:spcAft>
            </a:pP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 SGBD (Sistema Gestor de Base de Datos), son programas que en conjunto con diversas herramientas permite crear y administrar gran volumen de datos, permitiendo dar integridad, confidencialidad y seguridad a los datos. Por lo tanto, deben permitir definir, construir y manipular una o varias bases de datos.</a:t>
            </a:r>
            <a:endParaRPr lang="es-MX" sz="3200" b="0" dirty="0">
              <a:effectLst/>
            </a:endParaRPr>
          </a:p>
          <a:p>
            <a:pPr algn="just" rtl="0">
              <a:spcBef>
                <a:spcPts val="1000"/>
              </a:spcBef>
              <a:spcAft>
                <a:spcPts val="0"/>
              </a:spcAft>
            </a:pP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Para realizar estas tareas los SGBD o DBMS (por </a:t>
            </a:r>
            <a:r>
              <a:rPr lang="es-MX" sz="3200" dirty="0">
                <a:solidFill>
                  <a:srgbClr val="818990"/>
                </a:solidFill>
                <a:latin typeface="Calibri" panose="020F0502020204030204" pitchFamily="34" charset="0"/>
              </a:rPr>
              <a:t>sus siglas en ingles) 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proporcionan cuatro tipos de lenguajes:</a:t>
            </a:r>
            <a:endParaRPr lang="es-CL" sz="3200" dirty="0"/>
          </a:p>
        </p:txBody>
      </p:sp>
      <p:pic>
        <p:nvPicPr>
          <p:cNvPr id="2050" name="Picture 2" descr="Resultado de imagen para DDL y DML DCL TCL">
            <a:extLst>
              <a:ext uri="{FF2B5EF4-FFF2-40B4-BE49-F238E27FC236}">
                <a16:creationId xmlns:a16="http://schemas.microsoft.com/office/drawing/2014/main" id="{6B31C5AE-4A8F-4276-A530-E047EB8388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" t="4768" r="6994" b="7507"/>
          <a:stretch/>
        </p:blipFill>
        <p:spPr bwMode="auto">
          <a:xfrm>
            <a:off x="10064750" y="3214777"/>
            <a:ext cx="9677400" cy="487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1780E6F-4A9E-4D32-96CB-24433FEE6E81}"/>
              </a:ext>
            </a:extLst>
          </p:cNvPr>
          <p:cNvSpPr txBox="1"/>
          <p:nvPr/>
        </p:nvSpPr>
        <p:spPr>
          <a:xfrm>
            <a:off x="679450" y="2606675"/>
            <a:ext cx="7696200" cy="724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1000"/>
              </a:spcBef>
              <a:spcAft>
                <a:spcPts val="0"/>
              </a:spcAft>
            </a:pPr>
            <a:r>
              <a:rPr lang="es-ES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Uno de sus principales usos es que los usuarios puedan acceder a la información usando herramientas específicas de consulta y creación de reportes.</a:t>
            </a:r>
          </a:p>
          <a:p>
            <a:pPr algn="just" rtl="0">
              <a:spcBef>
                <a:spcPts val="1000"/>
              </a:spcBef>
              <a:spcAft>
                <a:spcPts val="0"/>
              </a:spcAft>
            </a:pP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Además, tienen una gran capacidad para trabajar y sostener la integridad de los datos evitando así que se corrompa la información o que deje de tener sentido para los reportes.</a:t>
            </a:r>
          </a:p>
          <a:p>
            <a:pPr algn="just" rtl="0">
              <a:spcBef>
                <a:spcPts val="1000"/>
              </a:spcBef>
              <a:spcAft>
                <a:spcPts val="0"/>
              </a:spcAft>
            </a:pP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Algunos ejemplos de estos SGBD son </a:t>
            </a:r>
            <a:b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</a:b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Oracle, MySQL, SQLite, MongoDB, </a:t>
            </a:r>
            <a:r>
              <a:rPr lang="es-ES" sz="3200" dirty="0" err="1">
                <a:solidFill>
                  <a:srgbClr val="818990"/>
                </a:solidFill>
                <a:latin typeface="Calibri" panose="020F0502020204030204" pitchFamily="34" charset="0"/>
              </a:rPr>
              <a:t>Cassandra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, SQL Server y PostgreSQL. Cada uno con sus características y especificaciones.</a:t>
            </a:r>
            <a:endParaRPr lang="es-CL" sz="32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2609576-42F2-8265-6024-455383000E8F}"/>
              </a:ext>
            </a:extLst>
          </p:cNvPr>
          <p:cNvGrpSpPr/>
          <p:nvPr/>
        </p:nvGrpSpPr>
        <p:grpSpPr>
          <a:xfrm>
            <a:off x="9266663" y="1692275"/>
            <a:ext cx="10153650" cy="8382000"/>
            <a:chOff x="9266663" y="1692275"/>
            <a:chExt cx="10153650" cy="8382000"/>
          </a:xfrm>
        </p:grpSpPr>
        <p:pic>
          <p:nvPicPr>
            <p:cNvPr id="1026" name="Picture 2" descr="Los gestores de bases de datos (SGBD) más usados">
              <a:extLst>
                <a:ext uri="{FF2B5EF4-FFF2-40B4-BE49-F238E27FC236}">
                  <a16:creationId xmlns:a16="http://schemas.microsoft.com/office/drawing/2014/main" id="{0E51EB6F-FC35-D2C9-0B3B-4C5D0CA4C1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54"/>
            <a:stretch/>
          </p:blipFill>
          <p:spPr bwMode="auto">
            <a:xfrm>
              <a:off x="9266663" y="1692275"/>
              <a:ext cx="10153650" cy="6311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SQL Server - El SGBD de Microsoft - Conecta Software">
              <a:extLst>
                <a:ext uri="{FF2B5EF4-FFF2-40B4-BE49-F238E27FC236}">
                  <a16:creationId xmlns:a16="http://schemas.microsoft.com/office/drawing/2014/main" id="{C5C88599-A3A6-6FA0-2B2E-442097A2D5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0"/>
            <a:stretch/>
          </p:blipFill>
          <p:spPr bwMode="auto">
            <a:xfrm>
              <a:off x="11178647" y="7238472"/>
              <a:ext cx="3064403" cy="2835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Disponible PostgreSQL 12.0 - MuyLinux">
              <a:extLst>
                <a:ext uri="{FF2B5EF4-FFF2-40B4-BE49-F238E27FC236}">
                  <a16:creationId xmlns:a16="http://schemas.microsoft.com/office/drawing/2014/main" id="{DD637917-E7B7-70DE-39A8-D80693FB6E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8" t="4906" r="16574"/>
            <a:stretch/>
          </p:blipFill>
          <p:spPr bwMode="auto">
            <a:xfrm>
              <a:off x="14339219" y="7238472"/>
              <a:ext cx="2583757" cy="2493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B4085B43-DF32-A47E-E2E2-A7949673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r>
              <a:rPr lang="es-MX" dirty="0"/>
              <a:t>SISTEMA GESTOR DE BASE DE DATOS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1306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2775744" y="2175341"/>
            <a:ext cx="14552612" cy="8356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3200" b="1" i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Lenguaje de definición de datos 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(DDL por Data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Definition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Language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): Permiten definir la estructura de las bases de datos. Algunas de ellas son: sentencias de creación de objetos (CREATE), modificación de estructura (ALTER), eliminación de objetos (DROP) o eliminación de todos los registros de la tabla (TRUNCATE).</a:t>
            </a:r>
            <a:endParaRPr lang="es-MX" sz="3600" b="1" i="1" u="none" strike="noStrike" dirty="0">
              <a:solidFill>
                <a:srgbClr val="DE3075"/>
              </a:solidFill>
              <a:effectLst/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3200" b="1" i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Lenguaje de manipulación de datos 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(DML por Data Management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Language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): Permiten manipular los datos almacenados. Algunos ejemplos son sentencias para visualizar datos (SELECT), para registrar datos (INSERT), actualizar datos (UPDATE) o eliminar registros de una tabla (DELETE).</a:t>
            </a:r>
            <a:endParaRPr lang="es-MX" sz="3600" b="1" i="1" u="none" strike="noStrike" dirty="0">
              <a:solidFill>
                <a:srgbClr val="DE3075"/>
              </a:solidFill>
              <a:effectLst/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3200" b="1" i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Lenguaje de control de datos 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(DCL por Data Control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Language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): Permiten definir controles de seguridad sobre objetos de la base de datos. Principalmente son dos: GRANT que entrega permisos a los usuarios sobre los objetos de la base de datos y REVOKE que quita esos permisos.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MX" sz="3200" b="1" i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Lenguaje de control de transacciones 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(TCL por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Transaction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Control </a:t>
            </a:r>
            <a:r>
              <a:rPr lang="es-MX" sz="3200" b="0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Lenguage</a:t>
            </a:r>
            <a:r>
              <a:rPr lang="es-MX" sz="3200" b="0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): permiten confirmar o deshacer cambios realizados por las sentencias DML. Principalmente son dos: COMMIT que permite confirmar cambios y ROLLBACK</a:t>
            </a:r>
            <a:r>
              <a:rPr lang="es-MX" sz="3200" dirty="0">
                <a:solidFill>
                  <a:srgbClr val="818990"/>
                </a:solidFill>
                <a:latin typeface="Calibri" panose="020F0502020204030204" pitchFamily="34" charset="0"/>
              </a:rPr>
              <a:t> que permite deshacer tareas realizadas.</a:t>
            </a:r>
            <a:endParaRPr lang="es-CL" sz="32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8142272-5769-FB74-05E0-940B286F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r>
              <a:rPr lang="es-MX" dirty="0"/>
              <a:t>SISTEMA GESTOR DE BASE DE DATOS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94126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AB15F6E-4DD6-0647-EF57-2FCC3CD6F3C0}"/>
              </a:ext>
            </a:extLst>
          </p:cNvPr>
          <p:cNvSpPr txBox="1">
            <a:spLocks/>
          </p:cNvSpPr>
          <p:nvPr/>
        </p:nvSpPr>
        <p:spPr>
          <a:xfrm>
            <a:off x="7004050" y="71024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F48FFCB-5E44-EDEE-2659-BCECB169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050" y="8215947"/>
            <a:ext cx="11887200" cy="1477328"/>
          </a:xfrm>
        </p:spPr>
        <p:txBody>
          <a:bodyPr/>
          <a:lstStyle/>
          <a:p>
            <a:pPr algn="l"/>
            <a:r>
              <a:rPr lang="es-CL" sz="4800" dirty="0"/>
              <a:t>VENTAJAS Y DESVENTAJAS  DEL ENFOQUE DE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75714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IMPLEMENTACIÓN DEL ENFOQUE DE BASE DE DATOS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450851" y="1920875"/>
            <a:ext cx="18969462" cy="869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2800" b="1" dirty="0"/>
              <a:t>VENTAJAS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Mínima Redundancia de Datos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Al integrar los datos en una sola estructura lógica y almacenando cada ocurrencia de un ítem de dato en un solo lugar de la Base de Datos.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Consistencia de Datos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Las actualizaciones se producen en un solo lugar.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Integración de Datos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Los datos son organizados de una manera lógica que permite definir los relacionamientos entre ellos.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Compartir Datos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Muchos sistemas de Base de Datos permiten a múltiples usuarios compartir la Base de Datos en forma concurrente, aunque  bajo ciertas restricciones.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Esfuerzo por Estandarización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Establecer la función de Administración de Datos es una parte importante de este enfoque, su objetivo es tener la autoridad para definir y fijar los estándares de los datos y los cambios de éstos.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Facilitar el Desarrollo de Aplicaciones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Reduce el costo y tiempo para desarrollar nuevas aplicaciones.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Controles de Seguridad, Privacidad e Integridad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El control esta centralizado a través de la función Administración de Base de Datos y eso mejora la protección de datos en comparación con archivos tradicionales.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Flexibilidad en el acceso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Se provee formas de recuperación de cada ítem de dato, permitiendo a un usuario mayor flexibilidad para ubicar datos que en archivos tradicionales.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Independencia de los Datos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Permite cambiar la organización  de los datos sin necesidad de alterar los programas.</a:t>
            </a:r>
          </a:p>
          <a:p>
            <a:pPr marL="457200" indent="-457200" algn="just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2800" u="sng" dirty="0">
                <a:solidFill>
                  <a:srgbClr val="818990"/>
                </a:solidFill>
                <a:latin typeface="Calibri" panose="020F0502020204030204" pitchFamily="34" charset="0"/>
              </a:rPr>
              <a:t>Reducción de la Mantención de Programas</a:t>
            </a:r>
            <a:r>
              <a:rPr lang="es-ES" sz="2800" dirty="0">
                <a:solidFill>
                  <a:srgbClr val="818990"/>
                </a:solidFill>
                <a:latin typeface="Calibri" panose="020F0502020204030204" pitchFamily="34" charset="0"/>
              </a:rPr>
              <a:t>: Reduce la necesidad de modificar (mantener) los programas aun cuando existan modificaciones constantes de éstos.</a:t>
            </a:r>
          </a:p>
        </p:txBody>
      </p:sp>
    </p:spTree>
    <p:extLst>
      <p:ext uri="{BB962C8B-B14F-4D97-AF65-F5344CB8AC3E}">
        <p14:creationId xmlns:p14="http://schemas.microsoft.com/office/powerpoint/2010/main" val="225189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450851" y="2911475"/>
            <a:ext cx="18969462" cy="6022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200" b="1" dirty="0"/>
              <a:t>DESVENTAJAS</a:t>
            </a:r>
            <a:endParaRPr lang="es-ES" sz="3200" b="1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200" u="sng" dirty="0">
                <a:solidFill>
                  <a:srgbClr val="818990"/>
                </a:solidFill>
                <a:latin typeface="Calibri" panose="020F0502020204030204" pitchFamily="34" charset="0"/>
              </a:rPr>
              <a:t>Personal Especializado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: Generalmente se necesita contratar o capacitar a personas para convertir sistemas existentes, desarrollar y estimar nuevos estándares de programación, diseñar Bases de Datos y administrarlas.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200" u="sng" dirty="0">
                <a:solidFill>
                  <a:srgbClr val="818990"/>
                </a:solidFill>
                <a:latin typeface="Calibri" panose="020F0502020204030204" pitchFamily="34" charset="0"/>
              </a:rPr>
              <a:t>Necesidad de Respaldos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: Al tener mínima redundancia se requiere contar con respaldos independientes que ayuden a recuperar archivos dañados, los DBMS generalmente proveen de herramientas que permiten  respaldar y recuperar archivos.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200" u="sng" dirty="0">
                <a:solidFill>
                  <a:srgbClr val="818990"/>
                </a:solidFill>
                <a:latin typeface="Calibri" panose="020F0502020204030204" pitchFamily="34" charset="0"/>
              </a:rPr>
              <a:t>Problemas al compartir Datos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: El acceso concurrente a los datos puede causar datos no consistentes o bloqueo de datos (</a:t>
            </a:r>
            <a:r>
              <a:rPr lang="es-ES" sz="3200" dirty="0" err="1">
                <a:solidFill>
                  <a:srgbClr val="818990"/>
                </a:solidFill>
                <a:latin typeface="Calibri" panose="020F0502020204030204" pitchFamily="34" charset="0"/>
              </a:rPr>
              <a:t>deadlock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). Los DBMS deben ser  diseñados para prevenir  o detectar tales interferencias, de una forma que sea transparente para el usuario.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200" u="sng" dirty="0">
                <a:solidFill>
                  <a:srgbClr val="818990"/>
                </a:solidFill>
                <a:latin typeface="Calibri" panose="020F0502020204030204" pitchFamily="34" charset="0"/>
              </a:rPr>
              <a:t>Conflicto Organizacional</a:t>
            </a:r>
            <a:r>
              <a:rPr lang="es-ES" sz="3200" dirty="0">
                <a:solidFill>
                  <a:srgbClr val="818990"/>
                </a:solidFill>
                <a:latin typeface="Calibri" panose="020F0502020204030204" pitchFamily="34" charset="0"/>
              </a:rPr>
              <a:t>: El mantener los datos para ser compartidos, requiere de un consenso en la definición y propiedad de los datos como también en la responsabilidad por la exactitud de ellos.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818CFD0-47AE-DD14-23DE-06C81E34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r>
              <a:rPr lang="es-ES" dirty="0"/>
              <a:t>IMPLEMENTACIÓN DEL ENFOQUE DE BASE DE DATOS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036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83475"/>
            <a:ext cx="10814050" cy="2031325"/>
          </a:xfrm>
        </p:spPr>
        <p:txBody>
          <a:bodyPr/>
          <a:lstStyle/>
          <a:p>
            <a:r>
              <a:rPr lang="es-ES" sz="6600" dirty="0"/>
              <a:t>A</a:t>
            </a:r>
            <a:r>
              <a:rPr lang="es-CL" sz="6600" dirty="0"/>
              <a:t>BSTRACCIÓN DE DATOS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213850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819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ABSTRACCIÓN DE DATOS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1289050" y="2488327"/>
            <a:ext cx="8763000" cy="750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Los Sistemas de Bases de Batos proporcionan cierto nivel de abstracción de datos.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Posee dos cualidades: </a:t>
            </a:r>
          </a:p>
          <a:p>
            <a:pPr marL="571500" indent="-5715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Suprime los detalles irrelevantes.</a:t>
            </a:r>
          </a:p>
          <a:p>
            <a:pPr marL="571500" indent="-5715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Busca para encontrar la esencia de ese algo.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3600" u="none" strike="noStrike" dirty="0">
              <a:solidFill>
                <a:srgbClr val="818990"/>
              </a:solidFill>
              <a:effectLst/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Los datos representan una abstracción de la realidad.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La abstracción de datos es una técnica que consiste en representar las </a:t>
            </a:r>
            <a:r>
              <a:rPr lang="es-ES" sz="3600" b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características</a:t>
            </a: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3600" b="1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esenciales</a:t>
            </a: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de una estructura de datos.</a:t>
            </a: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EAA2D601-5411-4F8A-9B5B-880FF2AB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748146" y="3536886"/>
            <a:ext cx="8371704" cy="486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7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ABSTRACCIÓN DE DATOS - EJEMPLOS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1593850" y="2944753"/>
            <a:ext cx="8763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 médico ve a una persona como paciente. El médico está interesado en el nombre, altura, peso, edad, grupo sanguíneo, enfermedades previas o existentes, etc.</a:t>
            </a:r>
          </a:p>
        </p:txBody>
      </p:sp>
      <p:pic>
        <p:nvPicPr>
          <p:cNvPr id="1026" name="Picture 2" descr="SAVALnet - Mundo Médico - Noticias">
            <a:extLst>
              <a:ext uri="{FF2B5EF4-FFF2-40B4-BE49-F238E27FC236}">
                <a16:creationId xmlns:a16="http://schemas.microsoft.com/office/drawing/2014/main" id="{B527143F-BADE-837A-86BB-2F2DFA2D8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050" y="2096675"/>
            <a:ext cx="5760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Una persona vestido formal parado de frente&#10;&#10;Descripción generada automáticamente">
            <a:extLst>
              <a:ext uri="{FF2B5EF4-FFF2-40B4-BE49-F238E27FC236}">
                <a16:creationId xmlns:a16="http://schemas.microsoft.com/office/drawing/2014/main" id="{C259F319-3596-44F3-9BE9-D7BDC359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892981" y="6682930"/>
            <a:ext cx="6016069" cy="392474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756B371-77FC-4481-B845-1F3D76F83FCA}"/>
              </a:ext>
            </a:extLst>
          </p:cNvPr>
          <p:cNvSpPr txBox="1"/>
          <p:nvPr/>
        </p:nvSpPr>
        <p:spPr>
          <a:xfrm>
            <a:off x="10356850" y="7537351"/>
            <a:ext cx="8763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 empleador ve a una persona como empleado. El empleador está interesado en el nombre, la edad, la salud, el grado de estudio, trabajo que desempeña,  experiencias, etc.</a:t>
            </a:r>
          </a:p>
        </p:txBody>
      </p:sp>
    </p:spTree>
    <p:extLst>
      <p:ext uri="{BB962C8B-B14F-4D97-AF65-F5344CB8AC3E}">
        <p14:creationId xmlns:p14="http://schemas.microsoft.com/office/powerpoint/2010/main" val="2044938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ABSTRACCIÓN DE DATOS - EJEMPLOS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C169F0-A589-4032-85E8-2390EDE1C3B7}"/>
              </a:ext>
            </a:extLst>
          </p:cNvPr>
          <p:cNvSpPr txBox="1"/>
          <p:nvPr/>
        </p:nvSpPr>
        <p:spPr>
          <a:xfrm>
            <a:off x="908050" y="2505204"/>
            <a:ext cx="12649200" cy="8022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Un docente postula a un nuevo trabajo para </a:t>
            </a: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un instituto de educación superior. Para esto, le solicitan su información personal.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3600" u="none" strike="noStrike" dirty="0">
              <a:solidFill>
                <a:srgbClr val="818990"/>
              </a:solidFill>
              <a:effectLst/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b="1" dirty="0">
                <a:solidFill>
                  <a:srgbClr val="818990"/>
                </a:solidFill>
                <a:latin typeface="Calibri" panose="020F0502020204030204" pitchFamily="34" charset="0"/>
              </a:rPr>
              <a:t>POSTULACIÓN CARGO DOCENTE INFORMATICA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Nombre: Jorge Antonio Pérez Soto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Fecha de nacimiento: 20 marzo 1990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Edad: 33 años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Dirección: Calle siempre viva 777, Santiago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Fono: 9 4563 9870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Correo: jorge.perezs@gmail.com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Estudios superiores: Ingeniería en Informática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Experiencia previa: </a:t>
            </a:r>
            <a:r>
              <a:rPr lang="es-ES" sz="3600" dirty="0" err="1">
                <a:solidFill>
                  <a:srgbClr val="818990"/>
                </a:solidFill>
                <a:latin typeface="Calibri" panose="020F0502020204030204" pitchFamily="34" charset="0"/>
              </a:rPr>
              <a:t>IPFuturo</a:t>
            </a:r>
            <a:r>
              <a:rPr lang="es-ES" sz="3600" dirty="0">
                <a:solidFill>
                  <a:srgbClr val="818990"/>
                </a:solidFill>
                <a:latin typeface="Calibri" panose="020F0502020204030204" pitchFamily="34" charset="0"/>
              </a:rPr>
              <a:t> 2016 – 2020 | IP Progreso 2020 - 2023</a:t>
            </a:r>
          </a:p>
        </p:txBody>
      </p:sp>
      <p:sp>
        <p:nvSpPr>
          <p:cNvPr id="4" name="Bocadillo: rectángulo 3">
            <a:extLst>
              <a:ext uri="{FF2B5EF4-FFF2-40B4-BE49-F238E27FC236}">
                <a16:creationId xmlns:a16="http://schemas.microsoft.com/office/drawing/2014/main" id="{A504FB3C-13A6-5C85-92C1-31017372202A}"/>
              </a:ext>
            </a:extLst>
          </p:cNvPr>
          <p:cNvSpPr/>
          <p:nvPr/>
        </p:nvSpPr>
        <p:spPr>
          <a:xfrm>
            <a:off x="14166850" y="3825875"/>
            <a:ext cx="5253462" cy="5257800"/>
          </a:xfrm>
          <a:prstGeom prst="wedgeRectCallout">
            <a:avLst>
              <a:gd name="adj1" fmla="val -107598"/>
              <a:gd name="adj2" fmla="val 22011"/>
            </a:avLst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3600" dirty="0">
                <a:solidFill>
                  <a:srgbClr val="818990"/>
                </a:solidFill>
                <a:latin typeface="Calibri" panose="020F0502020204030204" pitchFamily="34" charset="0"/>
              </a:rPr>
              <a:t>Es importante considerar que datos son importantes para registrar y cuáles no.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MX" sz="3600" dirty="0">
                <a:solidFill>
                  <a:srgbClr val="818990"/>
                </a:solidFill>
                <a:latin typeface="Calibri" panose="020F0502020204030204" pitchFamily="34" charset="0"/>
              </a:rPr>
              <a:t>La edad no es un dato que es necesario registrar ya que con la fecha de nacimiento se puede calcular en base al año actual.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52E9F6-F5E5-68A5-FD6E-C7C577304887}"/>
              </a:ext>
            </a:extLst>
          </p:cNvPr>
          <p:cNvSpPr/>
          <p:nvPr/>
        </p:nvSpPr>
        <p:spPr>
          <a:xfrm>
            <a:off x="2660650" y="5121275"/>
            <a:ext cx="4876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F82F679-3DC7-5D8E-8FD4-6FA8DA49EB25}"/>
              </a:ext>
            </a:extLst>
          </p:cNvPr>
          <p:cNvSpPr/>
          <p:nvPr/>
        </p:nvSpPr>
        <p:spPr>
          <a:xfrm>
            <a:off x="5022850" y="5807075"/>
            <a:ext cx="2895600" cy="60960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613962-A16B-F55A-A4D0-B73B4B5AB3EB}"/>
              </a:ext>
            </a:extLst>
          </p:cNvPr>
          <p:cNvSpPr/>
          <p:nvPr/>
        </p:nvSpPr>
        <p:spPr>
          <a:xfrm>
            <a:off x="2889250" y="7102475"/>
            <a:ext cx="4267200" cy="6096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BEFABD-F924-A722-E8EA-02FE54280441}"/>
              </a:ext>
            </a:extLst>
          </p:cNvPr>
          <p:cNvSpPr/>
          <p:nvPr/>
        </p:nvSpPr>
        <p:spPr>
          <a:xfrm>
            <a:off x="7232650" y="7102475"/>
            <a:ext cx="1752600" cy="609600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DFD32E-F840-9802-E42A-345921F57A82}"/>
              </a:ext>
            </a:extLst>
          </p:cNvPr>
          <p:cNvSpPr/>
          <p:nvPr/>
        </p:nvSpPr>
        <p:spPr>
          <a:xfrm>
            <a:off x="2127250" y="7788275"/>
            <a:ext cx="2362200" cy="609600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B820EEF-D433-E261-8CA4-56B30D7CFF0D}"/>
              </a:ext>
            </a:extLst>
          </p:cNvPr>
          <p:cNvSpPr/>
          <p:nvPr/>
        </p:nvSpPr>
        <p:spPr>
          <a:xfrm>
            <a:off x="2432050" y="8474075"/>
            <a:ext cx="4724400" cy="609600"/>
          </a:xfrm>
          <a:prstGeom prst="rect">
            <a:avLst/>
          </a:prstGeom>
          <a:noFill/>
          <a:ln w="76200">
            <a:solidFill>
              <a:srgbClr val="C4D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0EF884F-85C8-1774-BEF5-D8E00697F72D}"/>
              </a:ext>
            </a:extLst>
          </p:cNvPr>
          <p:cNvSpPr/>
          <p:nvPr/>
        </p:nvSpPr>
        <p:spPr>
          <a:xfrm>
            <a:off x="4794250" y="9159875"/>
            <a:ext cx="4800600" cy="609600"/>
          </a:xfrm>
          <a:prstGeom prst="rect">
            <a:avLst/>
          </a:prstGeom>
          <a:noFill/>
          <a:ln w="76200">
            <a:solidFill>
              <a:srgbClr val="B14EC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E45CC71-D9C2-3916-DD7E-658C264FEDC1}"/>
              </a:ext>
            </a:extLst>
          </p:cNvPr>
          <p:cNvSpPr/>
          <p:nvPr/>
        </p:nvSpPr>
        <p:spPr>
          <a:xfrm>
            <a:off x="4565650" y="9845675"/>
            <a:ext cx="8915400" cy="60960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239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3895</TotalTime>
  <Words>1314</Words>
  <Application>Microsoft Office PowerPoint</Application>
  <PresentationFormat>Personalizado</PresentationFormat>
  <Paragraphs>92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Franklin Gothic</vt:lpstr>
      <vt:lpstr>Office Theme</vt:lpstr>
      <vt:lpstr>BDY1101 Introducción a las Base de Datos</vt:lpstr>
      <vt:lpstr>Presentación de PowerPoint</vt:lpstr>
      <vt:lpstr>CONOCIMIENTOS PREVIOS</vt:lpstr>
      <vt:lpstr>CONOCIMIENTOS PREVIOS</vt:lpstr>
      <vt:lpstr>BASE DE DATOS</vt:lpstr>
      <vt:lpstr>Presentación de PowerPoint</vt:lpstr>
      <vt:lpstr>Presentación de PowerPoint</vt:lpstr>
      <vt:lpstr>Presentación de PowerPoint</vt:lpstr>
      <vt:lpstr>SGBD</vt:lpstr>
      <vt:lpstr>SISTEMA GESTOR DE BASE DE DATOS</vt:lpstr>
      <vt:lpstr>SISTEMA GESTOR DE BASE DE DATOS</vt:lpstr>
      <vt:lpstr>SISTEMA GESTOR DE BASE DE DATOS</vt:lpstr>
      <vt:lpstr>VENTAJAS Y DESVENTAJAS  DEL ENFOQUE DE BASE DE DATOS</vt:lpstr>
      <vt:lpstr>IMPLEMENTACIÓN DEL ENFOQUE DE BASE DE DATOS</vt:lpstr>
      <vt:lpstr>IMPLEMENTACIÓN DEL ENFOQUE DE BASE DE DATOS</vt:lpstr>
      <vt:lpstr>ABSTRACCIÓN DE DATOS</vt:lpstr>
      <vt:lpstr>ABSTRACCIÓN DE DATOS</vt:lpstr>
      <vt:lpstr>ABSTRACCIÓN DE DATOS - EJEMPLOS</vt:lpstr>
      <vt:lpstr>ABSTRACCIÓN DE DATOS - EJEMPLOS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Ivandavid Bilbao Barrenechea</cp:lastModifiedBy>
  <cp:revision>304</cp:revision>
  <dcterms:created xsi:type="dcterms:W3CDTF">2022-07-20T19:15:37Z</dcterms:created>
  <dcterms:modified xsi:type="dcterms:W3CDTF">2024-02-21T20:09:48Z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