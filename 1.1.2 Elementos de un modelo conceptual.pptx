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7"/>
  </p:notesMasterIdLst>
  <p:sldIdLst>
    <p:sldId id="261" r:id="rId5"/>
    <p:sldId id="337" r:id="rId6"/>
    <p:sldId id="359" r:id="rId7"/>
    <p:sldId id="360" r:id="rId8"/>
    <p:sldId id="365" r:id="rId9"/>
    <p:sldId id="366" r:id="rId10"/>
    <p:sldId id="367" r:id="rId11"/>
    <p:sldId id="368" r:id="rId12"/>
    <p:sldId id="369" r:id="rId13"/>
    <p:sldId id="344" r:id="rId14"/>
    <p:sldId id="339" r:id="rId15"/>
    <p:sldId id="270" r:id="rId16"/>
    <p:sldId id="340" r:id="rId17"/>
    <p:sldId id="364" r:id="rId18"/>
    <p:sldId id="327" r:id="rId19"/>
    <p:sldId id="353" r:id="rId20"/>
    <p:sldId id="356" r:id="rId21"/>
    <p:sldId id="345" r:id="rId22"/>
    <p:sldId id="361" r:id="rId23"/>
    <p:sldId id="362" r:id="rId24"/>
    <p:sldId id="363" r:id="rId25"/>
    <p:sldId id="357" r:id="rId26"/>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4EC4"/>
    <a:srgbClr val="FF595A"/>
    <a:srgbClr val="257CE1"/>
    <a:srgbClr val="C2D501"/>
    <a:srgbClr val="DB0532"/>
    <a:srgbClr val="D39F17"/>
    <a:srgbClr val="58C0E9"/>
    <a:srgbClr val="DC0031"/>
    <a:srgbClr val="EF7821"/>
    <a:srgbClr val="C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90"/>
    <p:restoredTop sz="87892" autoAdjust="0"/>
  </p:normalViewPr>
  <p:slideViewPr>
    <p:cSldViewPr>
      <p:cViewPr varScale="1">
        <p:scale>
          <a:sx n="32" d="100"/>
          <a:sy n="32" d="100"/>
        </p:scale>
        <p:origin x="892" y="2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4D35674-3C19-9844-8370-EE59E1CD260A}" type="datetimeFigureOut">
              <a:rPr lang="es-CL" smtClean="0"/>
              <a:t>19-03-2024</a:t>
            </a:fld>
            <a:endParaRPr lang="es-CL"/>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r>
              <a:rPr lang="es-ES"/>
              <a:t>Editar los estilos de texto del patrón
Segundo nivel
Tercer nivel
Cuarto nivel
Quinto nivel</a:t>
            </a:r>
            <a:endParaRPr lang="es-C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5C2C890-E6DE-1A45-98C6-E722FA6368DA}" type="slidenum">
              <a:rPr lang="es-CL" smtClean="0"/>
              <a:t>‹Nº›</a:t>
            </a:fld>
            <a:endParaRPr lang="es-CL"/>
          </a:p>
        </p:txBody>
      </p:sp>
    </p:spTree>
    <p:extLst>
      <p:ext uri="{BB962C8B-B14F-4D97-AF65-F5344CB8AC3E}">
        <p14:creationId xmlns:p14="http://schemas.microsoft.com/office/powerpoint/2010/main" val="234139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609600" indent="-609600" eaLnBrk="1" hangingPunct="1"/>
            <a:r>
              <a:rPr lang="es-ES" sz="1200" b="1" dirty="0">
                <a:latin typeface="Times New Roman" pitchFamily="18" charset="0"/>
                <a:cs typeface="Times New Roman" pitchFamily="18" charset="0"/>
              </a:rPr>
              <a:t>Modelo Conceptual de Datos</a:t>
            </a:r>
          </a:p>
          <a:p>
            <a:pPr marL="609600" indent="-609600" eaLnBrk="1" hangingPunct="1"/>
            <a:r>
              <a:rPr lang="es-ES" sz="1200" b="0" dirty="0">
                <a:latin typeface="Times New Roman" pitchFamily="18" charset="0"/>
                <a:cs typeface="Times New Roman" pitchFamily="18" charset="0"/>
              </a:rPr>
              <a:t>Modelo Entidad Relación</a:t>
            </a:r>
          </a:p>
          <a:p>
            <a:pPr marL="609600" indent="-609600" eaLnBrk="1" hangingPunct="1">
              <a:buFont typeface="Arial" pitchFamily="34" charset="0"/>
              <a:buChar char="•"/>
            </a:pPr>
            <a:r>
              <a:rPr lang="es-ES" sz="1400" b="1" dirty="0">
                <a:latin typeface="Times New Roman" pitchFamily="18" charset="0"/>
                <a:cs typeface="Times New Roman" pitchFamily="18" charset="0"/>
              </a:rPr>
              <a:t>S</a:t>
            </a:r>
            <a:r>
              <a:rPr lang="es-ES" sz="1200" b="1" dirty="0">
                <a:latin typeface="Times New Roman" pitchFamily="18" charset="0"/>
                <a:cs typeface="Times New Roman" pitchFamily="18" charset="0"/>
              </a:rPr>
              <a:t>e construye durante la fase de Estrategia y Análisis </a:t>
            </a:r>
            <a:r>
              <a:rPr lang="es-ES" sz="1200" dirty="0">
                <a:latin typeface="Times New Roman" pitchFamily="18" charset="0"/>
                <a:cs typeface="Times New Roman" pitchFamily="18" charset="0"/>
              </a:rPr>
              <a:t>del ciclo de vida del desarrollo de bases de datos y </a:t>
            </a:r>
            <a:r>
              <a:rPr lang="es-ES" sz="1200" b="1" dirty="0">
                <a:latin typeface="Times New Roman" pitchFamily="18" charset="0"/>
                <a:cs typeface="Times New Roman" pitchFamily="18" charset="0"/>
              </a:rPr>
              <a:t>su objetivo es aclarar y satisfacer las necesidades del negocio de los usuarios</a:t>
            </a:r>
            <a:r>
              <a:rPr lang="es-ES" sz="1200" dirty="0">
                <a:latin typeface="Times New Roman" pitchFamily="18" charset="0"/>
                <a:cs typeface="Times New Roman" pitchFamily="18" charset="0"/>
              </a:rPr>
              <a:t> y validar los requisitos de información. </a:t>
            </a:r>
          </a:p>
          <a:p>
            <a:pPr marL="609600" indent="-609600" eaLnBrk="1" hangingPunct="1">
              <a:buFont typeface="Arial" pitchFamily="34" charset="0"/>
              <a:buChar char="•"/>
            </a:pPr>
            <a:r>
              <a:rPr lang="es-ES" sz="1200" b="1" dirty="0">
                <a:latin typeface="Times New Roman" pitchFamily="18" charset="0"/>
                <a:cs typeface="Times New Roman" pitchFamily="18" charset="0"/>
              </a:rPr>
              <a:t>Es independiente del hardware o software </a:t>
            </a:r>
            <a:r>
              <a:rPr lang="es-ES" sz="1200" dirty="0">
                <a:latin typeface="Times New Roman" pitchFamily="18" charset="0"/>
                <a:cs typeface="Times New Roman" pitchFamily="18" charset="0"/>
              </a:rPr>
              <a:t>que se utilizará para la aplicación.</a:t>
            </a:r>
          </a:p>
          <a:p>
            <a:pPr marL="609600" indent="-609600" eaLnBrk="1" hangingPunct="1">
              <a:buFont typeface="Arial" pitchFamily="34" charset="0"/>
              <a:buChar char="•"/>
            </a:pPr>
            <a:r>
              <a:rPr lang="es-ES" sz="1200" dirty="0">
                <a:latin typeface="Times New Roman" pitchFamily="18" charset="0"/>
                <a:cs typeface="Times New Roman" pitchFamily="18" charset="0"/>
              </a:rPr>
              <a:t>El diagrama que se utiliza para construir el modelo conceptual de datos se llama diagrama o Modelo Entidad-Relación (MER) y sus componentes básicos son </a:t>
            </a:r>
            <a:r>
              <a:rPr lang="es-ES" sz="1200" b="1" dirty="0">
                <a:latin typeface="Times New Roman" pitchFamily="18" charset="0"/>
                <a:cs typeface="Times New Roman" pitchFamily="18" charset="0"/>
              </a:rPr>
              <a:t>Entidades, Atributos y Relaciones</a:t>
            </a:r>
            <a:r>
              <a:rPr lang="es-ES" sz="1200" dirty="0">
                <a:latin typeface="Times New Roman" pitchFamily="18" charset="0"/>
                <a:cs typeface="Times New Roman" pitchFamily="18" charset="0"/>
              </a:rPr>
              <a:t>.</a:t>
            </a:r>
            <a:endParaRPr lang="es-MX" sz="1200" dirty="0">
              <a:latin typeface="Times New Roman" pitchFamily="18" charset="0"/>
              <a:cs typeface="Times New Roman" pitchFamily="18" charset="0"/>
            </a:endParaRPr>
          </a:p>
        </p:txBody>
      </p:sp>
      <p:sp>
        <p:nvSpPr>
          <p:cNvPr id="4" name="Marcador de número de diapositiva 3"/>
          <p:cNvSpPr>
            <a:spLocks noGrp="1"/>
          </p:cNvSpPr>
          <p:nvPr>
            <p:ph type="sldNum" sz="quarter" idx="5"/>
          </p:nvPr>
        </p:nvSpPr>
        <p:spPr/>
        <p:txBody>
          <a:bodyPr/>
          <a:lstStyle/>
          <a:p>
            <a:fld id="{35C2C890-E6DE-1A45-98C6-E722FA6368DA}" type="slidenum">
              <a:rPr lang="es-CL" smtClean="0"/>
              <a:t>6</a:t>
            </a:fld>
            <a:endParaRPr lang="es-CL"/>
          </a:p>
        </p:txBody>
      </p:sp>
    </p:spTree>
    <p:extLst>
      <p:ext uri="{BB962C8B-B14F-4D97-AF65-F5344CB8AC3E}">
        <p14:creationId xmlns:p14="http://schemas.microsoft.com/office/powerpoint/2010/main" val="1641481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07BD9-7DFD-CC0A-61D6-F9FD2D0F4A7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A10EC2-4093-8056-7B11-CD2A3C025E4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B7B5731-9352-37AA-5706-6B7D197A40AD}"/>
              </a:ext>
            </a:extLst>
          </p:cNvPr>
          <p:cNvSpPr>
            <a:spLocks noGrp="1"/>
          </p:cNvSpPr>
          <p:nvPr>
            <p:ph type="body" idx="1"/>
          </p:nvPr>
        </p:nvSpPr>
        <p:spPr/>
        <p:txBody>
          <a:bodyPr/>
          <a:lstStyle/>
          <a:p>
            <a:pPr marL="609600" indent="-609600" eaLnBrk="1" hangingPunct="1"/>
            <a:r>
              <a:rPr lang="es-ES" sz="1400" b="1" dirty="0">
                <a:latin typeface="Times New Roman" pitchFamily="18" charset="0"/>
                <a:cs typeface="Times New Roman" pitchFamily="18" charset="0"/>
              </a:rPr>
              <a:t>Modelo Relacional</a:t>
            </a:r>
          </a:p>
          <a:p>
            <a:pPr marL="609600" indent="-609600" eaLnBrk="1" hangingPunct="1"/>
            <a:r>
              <a:rPr lang="es-ES" sz="1400" b="1" dirty="0">
                <a:latin typeface="Times New Roman" pitchFamily="18" charset="0"/>
                <a:cs typeface="Times New Roman" pitchFamily="18" charset="0"/>
              </a:rPr>
              <a:t>S</a:t>
            </a:r>
            <a:r>
              <a:rPr lang="es-ES" sz="1200" b="1" dirty="0">
                <a:latin typeface="Times New Roman" pitchFamily="18" charset="0"/>
                <a:cs typeface="Times New Roman" pitchFamily="18" charset="0"/>
              </a:rPr>
              <a:t>e construye durante la fase de diseño</a:t>
            </a:r>
            <a:r>
              <a:rPr lang="es-ES" sz="1200" dirty="0">
                <a:latin typeface="Times New Roman" pitchFamily="18" charset="0"/>
                <a:cs typeface="Times New Roman" pitchFamily="18" charset="0"/>
              </a:rPr>
              <a:t> del ciclo de vida del desarrollo de bases de datos.</a:t>
            </a:r>
          </a:p>
          <a:p>
            <a:pPr marL="609600" indent="-609600" eaLnBrk="1" hangingPunct="1">
              <a:buFont typeface="Arial" pitchFamily="34" charset="0"/>
              <a:buChar char="•"/>
            </a:pPr>
            <a:r>
              <a:rPr lang="es-ES" sz="1200" dirty="0">
                <a:latin typeface="Times New Roman" pitchFamily="18" charset="0"/>
                <a:cs typeface="Times New Roman" pitchFamily="18" charset="0"/>
              </a:rPr>
              <a:t>El </a:t>
            </a:r>
            <a:r>
              <a:rPr lang="es-ES" sz="1200" b="1" dirty="0">
                <a:latin typeface="Times New Roman" pitchFamily="18" charset="0"/>
                <a:cs typeface="Times New Roman" pitchFamily="18" charset="0"/>
              </a:rPr>
              <a:t>propósito de este modelo es describir los objetos que deben ser creado</a:t>
            </a:r>
            <a:r>
              <a:rPr lang="es-ES" sz="1200" dirty="0">
                <a:latin typeface="Times New Roman" pitchFamily="18" charset="0"/>
                <a:cs typeface="Times New Roman" pitchFamily="18" charset="0"/>
              </a:rPr>
              <a:t> cuando la base de datos sea generada.</a:t>
            </a:r>
          </a:p>
          <a:p>
            <a:pPr marL="609600" indent="-609600" eaLnBrk="1" hangingPunct="1">
              <a:buFont typeface="Arial" pitchFamily="34" charset="0"/>
              <a:buChar char="•"/>
            </a:pPr>
            <a:r>
              <a:rPr lang="es-ES" sz="1200" dirty="0">
                <a:latin typeface="Times New Roman" pitchFamily="18" charset="0"/>
                <a:cs typeface="Times New Roman" pitchFamily="18" charset="0"/>
              </a:rPr>
              <a:t>Los componentes básicos de un diseño de base de datos </a:t>
            </a:r>
            <a:r>
              <a:rPr lang="es-ES" sz="1200" b="1" dirty="0">
                <a:latin typeface="Times New Roman" pitchFamily="18" charset="0"/>
                <a:cs typeface="Times New Roman" pitchFamily="18" charset="0"/>
              </a:rPr>
              <a:t>incluyen objetos tales como tablas relacionales, columnas y claves primarias y foráneas</a:t>
            </a:r>
            <a:r>
              <a:rPr lang="es-ES" sz="1200" dirty="0">
                <a:latin typeface="Times New Roman" pitchFamily="18" charset="0"/>
                <a:cs typeface="Times New Roman" pitchFamily="18" charset="0"/>
              </a:rPr>
              <a:t>.</a:t>
            </a:r>
            <a:endParaRPr lang="es-MX" sz="1200" dirty="0">
              <a:latin typeface="Times New Roman" pitchFamily="18" charset="0"/>
              <a:cs typeface="Times New Roman" pitchFamily="18" charset="0"/>
            </a:endParaRPr>
          </a:p>
        </p:txBody>
      </p:sp>
      <p:sp>
        <p:nvSpPr>
          <p:cNvPr id="4" name="Marcador de número de diapositiva 3">
            <a:extLst>
              <a:ext uri="{FF2B5EF4-FFF2-40B4-BE49-F238E27FC236}">
                <a16:creationId xmlns:a16="http://schemas.microsoft.com/office/drawing/2014/main" id="{AC03949E-B663-ACB2-3330-B996B285F8AE}"/>
              </a:ext>
            </a:extLst>
          </p:cNvPr>
          <p:cNvSpPr>
            <a:spLocks noGrp="1"/>
          </p:cNvSpPr>
          <p:nvPr>
            <p:ph type="sldNum" sz="quarter" idx="5"/>
          </p:nvPr>
        </p:nvSpPr>
        <p:spPr/>
        <p:txBody>
          <a:bodyPr/>
          <a:lstStyle/>
          <a:p>
            <a:fld id="{35C2C890-E6DE-1A45-98C6-E722FA6368DA}" type="slidenum">
              <a:rPr lang="es-CL" smtClean="0"/>
              <a:t>7</a:t>
            </a:fld>
            <a:endParaRPr lang="es-CL"/>
          </a:p>
        </p:txBody>
      </p:sp>
    </p:spTree>
    <p:extLst>
      <p:ext uri="{BB962C8B-B14F-4D97-AF65-F5344CB8AC3E}">
        <p14:creationId xmlns:p14="http://schemas.microsoft.com/office/powerpoint/2010/main" val="2979905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B2649-A730-756F-491E-15EE6B73A2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CF53C7-7B84-C28D-5231-48FF47D8EFA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AEB79FE-6D39-20B6-5B20-A93CB14525BB}"/>
              </a:ext>
            </a:extLst>
          </p:cNvPr>
          <p:cNvSpPr>
            <a:spLocks noGrp="1"/>
          </p:cNvSpPr>
          <p:nvPr>
            <p:ph type="body" idx="1"/>
          </p:nvPr>
        </p:nvSpPr>
        <p:spPr/>
        <p:txBody>
          <a:bodyPr/>
          <a:lstStyle/>
          <a:p>
            <a:pPr marL="609600" indent="-609600" eaLnBrk="1" hangingPunct="1">
              <a:lnSpc>
                <a:spcPct val="90000"/>
              </a:lnSpc>
            </a:pPr>
            <a:r>
              <a:rPr lang="es-ES" sz="1600" b="1" dirty="0">
                <a:latin typeface="Times New Roman" pitchFamily="18" charset="0"/>
                <a:cs typeface="Times New Roman" pitchFamily="18" charset="0"/>
              </a:rPr>
              <a:t>Modelo Físico</a:t>
            </a:r>
          </a:p>
          <a:p>
            <a:pPr marL="609600" indent="-609600" eaLnBrk="1" hangingPunct="1">
              <a:lnSpc>
                <a:spcPct val="90000"/>
              </a:lnSpc>
            </a:pPr>
            <a:r>
              <a:rPr lang="es-ES" sz="1600" dirty="0">
                <a:latin typeface="Times New Roman" pitchFamily="18" charset="0"/>
                <a:cs typeface="Times New Roman" pitchFamily="18" charset="0"/>
              </a:rPr>
              <a:t>El proceso de generación de base de datos:</a:t>
            </a:r>
          </a:p>
          <a:p>
            <a:pPr marL="609600" indent="-609600" eaLnBrk="1" hangingPunct="1">
              <a:lnSpc>
                <a:spcPct val="90000"/>
              </a:lnSpc>
              <a:buFont typeface="Arial" pitchFamily="34" charset="0"/>
              <a:buChar char="•"/>
            </a:pPr>
            <a:r>
              <a:rPr lang="es-ES" sz="1600" dirty="0">
                <a:latin typeface="Times New Roman" pitchFamily="18" charset="0"/>
                <a:cs typeface="Times New Roman" pitchFamily="18" charset="0"/>
              </a:rPr>
              <a:t>C</a:t>
            </a:r>
            <a:r>
              <a:rPr lang="es-ES" sz="1400" dirty="0">
                <a:latin typeface="Times New Roman" pitchFamily="18" charset="0"/>
                <a:cs typeface="Times New Roman" pitchFamily="18" charset="0"/>
              </a:rPr>
              <a:t>onsiste en completar el modelo físico y la generación de la secuencia de comandos SQL (script SQL) necesarias para crear la base de datos.</a:t>
            </a:r>
          </a:p>
          <a:p>
            <a:pPr marL="609600" indent="-609600" eaLnBrk="1" hangingPunct="1">
              <a:lnSpc>
                <a:spcPct val="90000"/>
              </a:lnSpc>
              <a:buFont typeface="Arial" pitchFamily="34" charset="0"/>
              <a:buChar char="•"/>
            </a:pPr>
            <a:r>
              <a:rPr lang="es-ES" sz="1400" dirty="0">
                <a:latin typeface="Times New Roman" pitchFamily="18" charset="0"/>
                <a:cs typeface="Times New Roman" pitchFamily="18" charset="0"/>
              </a:rPr>
              <a:t>El propósito del modelo físico es describir una base de datos en términos de objetos (espacios de tablas, vistas, etc.) que se basa en un modelo relacional. </a:t>
            </a:r>
          </a:p>
          <a:p>
            <a:pPr marL="609600" indent="-609600" eaLnBrk="1" hangingPunct="1">
              <a:lnSpc>
                <a:spcPct val="90000"/>
              </a:lnSpc>
              <a:buFont typeface="Arial" pitchFamily="34" charset="0"/>
              <a:buChar char="•"/>
            </a:pPr>
            <a:r>
              <a:rPr lang="es-ES" sz="1400" dirty="0">
                <a:latin typeface="Times New Roman" pitchFamily="18" charset="0"/>
                <a:cs typeface="Times New Roman" pitchFamily="18" charset="0"/>
              </a:rPr>
              <a:t>Cada modelo relacional puede tener uno o más modelos físicos. </a:t>
            </a:r>
          </a:p>
          <a:p>
            <a:pPr marL="609600" indent="-609600" eaLnBrk="1" hangingPunct="1">
              <a:lnSpc>
                <a:spcPct val="90000"/>
              </a:lnSpc>
              <a:buFont typeface="Arial" pitchFamily="34" charset="0"/>
              <a:buChar char="•"/>
            </a:pPr>
            <a:r>
              <a:rPr lang="es-ES" sz="1400" dirty="0">
                <a:latin typeface="Times New Roman" pitchFamily="18" charset="0"/>
                <a:cs typeface="Times New Roman" pitchFamily="18" charset="0"/>
              </a:rPr>
              <a:t>Cada modelo físico se basa en el RDBMS elegido para generar la base de datos.</a:t>
            </a:r>
            <a:endParaRPr lang="es-MX" sz="1400" dirty="0">
              <a:latin typeface="Times New Roman" pitchFamily="18" charset="0"/>
              <a:cs typeface="Times New Roman" pitchFamily="18" charset="0"/>
            </a:endParaRPr>
          </a:p>
        </p:txBody>
      </p:sp>
      <p:sp>
        <p:nvSpPr>
          <p:cNvPr id="4" name="Marcador de número de diapositiva 3">
            <a:extLst>
              <a:ext uri="{FF2B5EF4-FFF2-40B4-BE49-F238E27FC236}">
                <a16:creationId xmlns:a16="http://schemas.microsoft.com/office/drawing/2014/main" id="{6BB21546-FBA5-666D-94D2-F4C7BF58D9E6}"/>
              </a:ext>
            </a:extLst>
          </p:cNvPr>
          <p:cNvSpPr>
            <a:spLocks noGrp="1"/>
          </p:cNvSpPr>
          <p:nvPr>
            <p:ph type="sldNum" sz="quarter" idx="5"/>
          </p:nvPr>
        </p:nvSpPr>
        <p:spPr/>
        <p:txBody>
          <a:bodyPr/>
          <a:lstStyle/>
          <a:p>
            <a:fld id="{35C2C890-E6DE-1A45-98C6-E722FA6368DA}" type="slidenum">
              <a:rPr lang="es-CL" smtClean="0"/>
              <a:t>8</a:t>
            </a:fld>
            <a:endParaRPr lang="es-CL"/>
          </a:p>
        </p:txBody>
      </p:sp>
    </p:spTree>
    <p:extLst>
      <p:ext uri="{BB962C8B-B14F-4D97-AF65-F5344CB8AC3E}">
        <p14:creationId xmlns:p14="http://schemas.microsoft.com/office/powerpoint/2010/main" val="1720931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C18C1-9159-0972-CC8E-E5749ADEE9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7A6A0F8-57FD-276A-0B02-61CEF1E4B49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BAC668-9BC8-B242-67EC-164ED55CFF14}"/>
              </a:ext>
            </a:extLst>
          </p:cNvPr>
          <p:cNvSpPr>
            <a:spLocks noGrp="1"/>
          </p:cNvSpPr>
          <p:nvPr>
            <p:ph type="body" idx="1"/>
          </p:nvPr>
        </p:nvSpPr>
        <p:spPr/>
        <p:txBody>
          <a:bodyPr/>
          <a:lstStyle/>
          <a:p>
            <a:pPr eaLnBrk="1" hangingPunct="1"/>
            <a:r>
              <a:rPr lang="es-ES_tradnl" sz="2000" b="1" dirty="0">
                <a:latin typeface="Times New Roman" panose="02020603050405020304" pitchFamily="18" charset="0"/>
              </a:rPr>
              <a:t>Modelo Entidad/Relación</a:t>
            </a:r>
          </a:p>
          <a:p>
            <a:pPr eaLnBrk="1" hangingPunct="1"/>
            <a:r>
              <a:rPr lang="es-ES_tradnl" sz="2000" dirty="0">
                <a:latin typeface="Times New Roman" panose="02020603050405020304" pitchFamily="18" charset="0"/>
              </a:rPr>
              <a:t>Los conceptos básicos de un modelo E/R son:</a:t>
            </a:r>
          </a:p>
          <a:p>
            <a:pPr marL="457200" indent="-457200" eaLnBrk="1" hangingPunct="1">
              <a:buFont typeface="Arial" pitchFamily="34" charset="0"/>
              <a:buChar char="•"/>
            </a:pPr>
            <a:r>
              <a:rPr lang="es-ES_tradnl" sz="2000" b="1" dirty="0">
                <a:latin typeface="Times New Roman" panose="02020603050405020304" pitchFamily="18" charset="0"/>
              </a:rPr>
              <a:t>E</a:t>
            </a:r>
            <a:r>
              <a:rPr lang="es-ES_tradnl" sz="1800" b="1" dirty="0">
                <a:latin typeface="Times New Roman" panose="02020603050405020304" pitchFamily="18" charset="0"/>
              </a:rPr>
              <a:t>NTIDAD:</a:t>
            </a:r>
            <a:r>
              <a:rPr lang="es-ES_tradnl" sz="1800" dirty="0">
                <a:latin typeface="Times New Roman" panose="02020603050405020304" pitchFamily="18" charset="0"/>
              </a:rPr>
              <a:t> representa un objeto de la realidad, de la que se necesita mantener y conocer información.</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s-ES_tradnl" sz="1800" b="1" dirty="0">
                <a:latin typeface="Times New Roman" panose="02020603050405020304" pitchFamily="18" charset="0"/>
              </a:rPr>
              <a:t>ATRIBUTO:</a:t>
            </a:r>
            <a:r>
              <a:rPr lang="es-ES_tradnl" sz="1800" dirty="0">
                <a:latin typeface="Times New Roman" panose="02020603050405020304" pitchFamily="18" charset="0"/>
              </a:rPr>
              <a:t> representa una propiedad básica que caracteriza a una entidad o a una relación.</a:t>
            </a:r>
          </a:p>
          <a:p>
            <a:pPr marL="457200" indent="-457200" eaLnBrk="1" hangingPunct="1">
              <a:buFont typeface="Arial" pitchFamily="34" charset="0"/>
              <a:buChar char="•"/>
            </a:pPr>
            <a:r>
              <a:rPr lang="es-ES_tradnl" sz="1800" b="1" dirty="0">
                <a:latin typeface="Times New Roman" panose="02020603050405020304" pitchFamily="18" charset="0"/>
              </a:rPr>
              <a:t>RELACIÓN:</a:t>
            </a:r>
            <a:r>
              <a:rPr lang="es-ES_tradnl" sz="1800" dirty="0">
                <a:latin typeface="Times New Roman" panose="02020603050405020304" pitchFamily="18" charset="0"/>
              </a:rPr>
              <a:t> representa una conexión entre los objetos de una o más entidades.</a:t>
            </a:r>
          </a:p>
          <a:p>
            <a:pPr marL="0" indent="0" eaLnBrk="1" hangingPunct="1">
              <a:buFont typeface="Arial" pitchFamily="34" charset="0"/>
              <a:buNone/>
            </a:pPr>
            <a:endParaRPr lang="es-ES_tradnl" sz="1800" dirty="0">
              <a:latin typeface="Times New Roman" panose="02020603050405020304" pitchFamily="18" charset="0"/>
            </a:endParaRPr>
          </a:p>
          <a:p>
            <a:pPr algn="just">
              <a:lnSpc>
                <a:spcPct val="90000"/>
              </a:lnSpc>
            </a:pPr>
            <a:r>
              <a:rPr lang="es-CL" sz="1400" dirty="0">
                <a:latin typeface="Times New Roman" panose="02020603050405020304" pitchFamily="18" charset="0"/>
                <a:cs typeface="Times New Roman" panose="02020603050405020304" pitchFamily="18" charset="0"/>
              </a:rPr>
              <a:t>Originalmente solo incluía los conceptos básicos mencionado anteriormente. Más tarde se añadieron otros conceptos como los </a:t>
            </a:r>
            <a:r>
              <a:rPr lang="es-CL" sz="1400" b="1" dirty="0">
                <a:latin typeface="Times New Roman" panose="02020603050405020304" pitchFamily="18" charset="0"/>
                <a:cs typeface="Times New Roman" panose="02020603050405020304" pitchFamily="18" charset="0"/>
              </a:rPr>
              <a:t>Atributos Compuestos</a:t>
            </a:r>
            <a:r>
              <a:rPr lang="es-CL" sz="1400" dirty="0">
                <a:latin typeface="Times New Roman" panose="02020603050405020304" pitchFamily="18" charset="0"/>
                <a:cs typeface="Times New Roman" panose="02020603050405020304" pitchFamily="18" charset="0"/>
              </a:rPr>
              <a:t> y  las </a:t>
            </a:r>
            <a:r>
              <a:rPr lang="es-CL" sz="1400" b="1" dirty="0">
                <a:latin typeface="Times New Roman" panose="02020603050405020304" pitchFamily="18" charset="0"/>
                <a:cs typeface="Times New Roman" panose="02020603050405020304" pitchFamily="18" charset="0"/>
              </a:rPr>
              <a:t>Jerarquías de Generalización</a:t>
            </a:r>
            <a:r>
              <a:rPr lang="es-CL" sz="1400" dirty="0">
                <a:latin typeface="Times New Roman" panose="02020603050405020304" pitchFamily="18" charset="0"/>
                <a:cs typeface="Times New Roman" panose="02020603050405020304" pitchFamily="18" charset="0"/>
              </a:rPr>
              <a:t>, en lo que se ha denominado </a:t>
            </a:r>
            <a:r>
              <a:rPr lang="es-CL" sz="1400" b="1" dirty="0">
                <a:latin typeface="Times New Roman" panose="02020603050405020304" pitchFamily="18" charset="0"/>
                <a:cs typeface="Times New Roman" panose="02020603050405020304" pitchFamily="18" charset="0"/>
              </a:rPr>
              <a:t>Modelo</a:t>
            </a:r>
            <a:r>
              <a:rPr lang="es-CL" sz="1400" dirty="0">
                <a:latin typeface="Times New Roman" panose="02020603050405020304" pitchFamily="18" charset="0"/>
                <a:cs typeface="Times New Roman" panose="02020603050405020304" pitchFamily="18" charset="0"/>
              </a:rPr>
              <a:t>  </a:t>
            </a:r>
            <a:r>
              <a:rPr lang="es-CL" sz="1400" b="1" dirty="0">
                <a:latin typeface="Times New Roman" panose="02020603050405020304" pitchFamily="18" charset="0"/>
                <a:cs typeface="Times New Roman" panose="02020603050405020304" pitchFamily="18" charset="0"/>
              </a:rPr>
              <a:t>Entidad-Relación Extendido</a:t>
            </a:r>
            <a:r>
              <a:rPr lang="es-CL" sz="1400" dirty="0">
                <a:latin typeface="Times New Roman" panose="02020603050405020304" pitchFamily="18" charset="0"/>
                <a:cs typeface="Times New Roman" panose="02020603050405020304" pitchFamily="18" charset="0"/>
              </a:rPr>
              <a:t>.</a:t>
            </a:r>
          </a:p>
          <a:p>
            <a:pPr algn="just">
              <a:lnSpc>
                <a:spcPct val="90000"/>
              </a:lnSpc>
            </a:pPr>
            <a:r>
              <a:rPr lang="es-CL" sz="1400" dirty="0">
                <a:latin typeface="Times New Roman" panose="02020603050405020304" pitchFamily="18" charset="0"/>
                <a:cs typeface="Times New Roman" panose="02020603050405020304" pitchFamily="18" charset="0"/>
              </a:rPr>
              <a:t>Para representar el Modelo Conceptual existen distintos tipos de simbologías (gráficas y narrativas). La más popular es la simbología propuesta por Peter Chen en su modelo Entidad Relación (E/R) introducido en el año 1976 y en el último tiempo la que utiliza el CASE*METHOD adoptada por Oracle.</a:t>
            </a:r>
            <a:endParaRPr lang="es-MX" sz="1400" dirty="0">
              <a:latin typeface="Times New Roman" pitchFamily="18" charset="0"/>
              <a:cs typeface="Times New Roman" pitchFamily="18" charset="0"/>
            </a:endParaRPr>
          </a:p>
        </p:txBody>
      </p:sp>
      <p:sp>
        <p:nvSpPr>
          <p:cNvPr id="4" name="Marcador de número de diapositiva 3">
            <a:extLst>
              <a:ext uri="{FF2B5EF4-FFF2-40B4-BE49-F238E27FC236}">
                <a16:creationId xmlns:a16="http://schemas.microsoft.com/office/drawing/2014/main" id="{F1F27381-C4F1-95B0-9D6C-A5E2F56BD0D1}"/>
              </a:ext>
            </a:extLst>
          </p:cNvPr>
          <p:cNvSpPr>
            <a:spLocks noGrp="1"/>
          </p:cNvSpPr>
          <p:nvPr>
            <p:ph type="sldNum" sz="quarter" idx="5"/>
          </p:nvPr>
        </p:nvSpPr>
        <p:spPr/>
        <p:txBody>
          <a:bodyPr/>
          <a:lstStyle/>
          <a:p>
            <a:fld id="{35C2C890-E6DE-1A45-98C6-E722FA6368DA}" type="slidenum">
              <a:rPr lang="es-CL" smtClean="0"/>
              <a:t>9</a:t>
            </a:fld>
            <a:endParaRPr lang="es-CL"/>
          </a:p>
        </p:txBody>
      </p:sp>
    </p:spTree>
    <p:extLst>
      <p:ext uri="{BB962C8B-B14F-4D97-AF65-F5344CB8AC3E}">
        <p14:creationId xmlns:p14="http://schemas.microsoft.com/office/powerpoint/2010/main" val="963021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F4E23B3-D17D-BBDA-CF94-0F577C2DCC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2" name="Holder 2"/>
          <p:cNvSpPr>
            <a:spLocks noGrp="1"/>
          </p:cNvSpPr>
          <p:nvPr>
            <p:ph type="ctrTitle"/>
          </p:nvPr>
        </p:nvSpPr>
        <p:spPr>
          <a:xfrm>
            <a:off x="2838209" y="8700548"/>
            <a:ext cx="6781800" cy="584775"/>
          </a:xfrm>
          <a:prstGeom prst="rect">
            <a:avLst/>
          </a:prstGeom>
        </p:spPr>
        <p:txBody>
          <a:bodyPr wrap="square" lIns="0" tIns="0" rIns="0" bIns="0">
            <a:spAutoFit/>
          </a:bodyPr>
          <a:lstStyle>
            <a:lvl1pPr>
              <a:defRPr sz="3800">
                <a:solidFill>
                  <a:schemeClr val="bg1"/>
                </a:solidFill>
              </a:defRPr>
            </a:lvl1pPr>
          </a:lstStyle>
          <a:p>
            <a:endParaRPr dirty="0"/>
          </a:p>
        </p:txBody>
      </p:sp>
      <p:sp>
        <p:nvSpPr>
          <p:cNvPr id="3" name="Holder 3"/>
          <p:cNvSpPr>
            <a:spLocks noGrp="1"/>
          </p:cNvSpPr>
          <p:nvPr>
            <p:ph type="subTitle" idx="4"/>
          </p:nvPr>
        </p:nvSpPr>
        <p:spPr>
          <a:xfrm>
            <a:off x="2838209" y="9612314"/>
            <a:ext cx="8712681" cy="369332"/>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sp>
        <p:nvSpPr>
          <p:cNvPr id="14" name="object 10">
            <a:extLst>
              <a:ext uri="{FF2B5EF4-FFF2-40B4-BE49-F238E27FC236}">
                <a16:creationId xmlns:a16="http://schemas.microsoft.com/office/drawing/2014/main" id="{60E109FA-AB96-844B-8998-73B547E74E45}"/>
              </a:ext>
            </a:extLst>
          </p:cNvPr>
          <p:cNvSpPr/>
          <p:nvPr userDrawn="1"/>
        </p:nvSpPr>
        <p:spPr>
          <a:xfrm>
            <a:off x="2838209" y="9464675"/>
            <a:ext cx="8841105" cy="0"/>
          </a:xfrm>
          <a:custGeom>
            <a:avLst/>
            <a:gdLst/>
            <a:ahLst/>
            <a:cxnLst/>
            <a:rect l="l" t="t" r="r" b="b"/>
            <a:pathLst>
              <a:path w="8841105">
                <a:moveTo>
                  <a:pt x="0" y="0"/>
                </a:moveTo>
                <a:lnTo>
                  <a:pt x="8840652" y="0"/>
                </a:lnTo>
              </a:path>
            </a:pathLst>
          </a:custGeom>
          <a:ln w="10470">
            <a:solidFill>
              <a:schemeClr val="bg1"/>
            </a:solidFill>
          </a:ln>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340"/>
            <a:ext cx="20110047" cy="11306010"/>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831850" y="7178675"/>
            <a:ext cx="9782022" cy="1538883"/>
          </a:xfrm>
        </p:spPr>
        <p:txBody>
          <a:bodyPr/>
          <a:lstStyle>
            <a:lvl1pPr algn="r">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7461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21D21F6-64EA-9F7E-F1FC-89374B3096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0" name="Título 1">
            <a:extLst>
              <a:ext uri="{FF2B5EF4-FFF2-40B4-BE49-F238E27FC236}">
                <a16:creationId xmlns:a16="http://schemas.microsoft.com/office/drawing/2014/main" id="{994F59E7-28C4-825A-1194-67522AF99C22}"/>
              </a:ext>
            </a:extLst>
          </p:cNvPr>
          <p:cNvSpPr>
            <a:spLocks noGrp="1"/>
          </p:cNvSpPr>
          <p:nvPr>
            <p:ph type="title"/>
          </p:nvPr>
        </p:nvSpPr>
        <p:spPr>
          <a:xfrm>
            <a:off x="6851650" y="7483475"/>
            <a:ext cx="9782022" cy="1538883"/>
          </a:xfrm>
        </p:spPr>
        <p:txBody>
          <a:bodyPr/>
          <a:lstStyle>
            <a:lvl1pPr algn="l">
              <a:defRPr sz="5000"/>
            </a:lvl1pPr>
          </a:lstStyle>
          <a:p>
            <a:r>
              <a:rPr lang="es-ES" dirty="0"/>
              <a:t>Haga clic para modificar el estilo de título del patrón</a:t>
            </a:r>
            <a:endParaRPr lang="es-C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7451F99-8CB8-50AA-1CC0-54512CBB6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9" name="Título 1">
            <a:extLst>
              <a:ext uri="{FF2B5EF4-FFF2-40B4-BE49-F238E27FC236}">
                <a16:creationId xmlns:a16="http://schemas.microsoft.com/office/drawing/2014/main" id="{2C83ACDF-F359-C1DD-3AF9-368B761AA8DB}"/>
              </a:ext>
            </a:extLst>
          </p:cNvPr>
          <p:cNvSpPr>
            <a:spLocks noGrp="1"/>
          </p:cNvSpPr>
          <p:nvPr>
            <p:ph type="title"/>
          </p:nvPr>
        </p:nvSpPr>
        <p:spPr>
          <a:xfrm>
            <a:off x="6623050" y="7026275"/>
            <a:ext cx="9782022" cy="1538883"/>
          </a:xfrm>
        </p:spPr>
        <p:txBody>
          <a:bodyPr/>
          <a:lstStyle>
            <a:lvl1pPr algn="l">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34336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F738965-FD99-AFAE-3CAA-5CEAF99952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1" name="Título 1">
            <a:extLst>
              <a:ext uri="{FF2B5EF4-FFF2-40B4-BE49-F238E27FC236}">
                <a16:creationId xmlns:a16="http://schemas.microsoft.com/office/drawing/2014/main" id="{4AB59064-93F0-56FE-006F-C58F84A825C5}"/>
              </a:ext>
            </a:extLst>
          </p:cNvPr>
          <p:cNvSpPr>
            <a:spLocks noGrp="1"/>
          </p:cNvSpPr>
          <p:nvPr>
            <p:ph type="title"/>
          </p:nvPr>
        </p:nvSpPr>
        <p:spPr>
          <a:xfrm>
            <a:off x="4794250" y="6950075"/>
            <a:ext cx="9782022" cy="1538883"/>
          </a:xfrm>
        </p:spPr>
        <p:txBody>
          <a:bodyPr/>
          <a:lstStyle>
            <a:lvl1pPr algn="r">
              <a:defRPr sz="5000"/>
            </a:lvl1pPr>
          </a:lstStyle>
          <a:p>
            <a:r>
              <a:rPr lang="es-ES" dirty="0"/>
              <a:t>Haga clic para modificar el estilo de título del patrón</a:t>
            </a:r>
            <a:endParaRPr lang="es-C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3973E67C-611D-F88A-80C1-185A9B8D41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8" name="Imagen 27">
            <a:extLst>
              <a:ext uri="{FF2B5EF4-FFF2-40B4-BE49-F238E27FC236}">
                <a16:creationId xmlns:a16="http://schemas.microsoft.com/office/drawing/2014/main" id="{3E466965-0C09-5FCB-13FD-111D1D2AD2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9" name="Rectángulo 28">
            <a:extLst>
              <a:ext uri="{FF2B5EF4-FFF2-40B4-BE49-F238E27FC236}">
                <a16:creationId xmlns:a16="http://schemas.microsoft.com/office/drawing/2014/main" id="{98C6A4D7-FDE0-20C5-1EB3-30217CE5E1DC}"/>
              </a:ext>
            </a:extLst>
          </p:cNvPr>
          <p:cNvSpPr/>
          <p:nvPr userDrawn="1"/>
        </p:nvSpPr>
        <p:spPr>
          <a:xfrm>
            <a:off x="4413250" y="42068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0" name="Título 1">
            <a:extLst>
              <a:ext uri="{FF2B5EF4-FFF2-40B4-BE49-F238E27FC236}">
                <a16:creationId xmlns:a16="http://schemas.microsoft.com/office/drawing/2014/main" id="{EE9CC866-5882-3C12-E5D7-404765C18C0C}"/>
              </a:ext>
            </a:extLst>
          </p:cNvPr>
          <p:cNvSpPr>
            <a:spLocks noGrp="1"/>
          </p:cNvSpPr>
          <p:nvPr>
            <p:ph type="title"/>
          </p:nvPr>
        </p:nvSpPr>
        <p:spPr>
          <a:xfrm>
            <a:off x="4842028" y="45340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03858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7232650" y="7880350"/>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7661428" y="8207476"/>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1109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2432050" y="714594"/>
            <a:ext cx="16988263" cy="738664"/>
          </a:xfrm>
        </p:spPr>
        <p:txBody>
          <a:bodyPr/>
          <a:lstStyle>
            <a:lvl1pPr>
              <a:defRPr sz="4800"/>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6350"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7" name="object 3">
            <a:extLst>
              <a:ext uri="{FF2B5EF4-FFF2-40B4-BE49-F238E27FC236}">
                <a16:creationId xmlns:a16="http://schemas.microsoft.com/office/drawing/2014/main" id="{7932DF43-D838-5B47-A92B-B88C568B4A19}"/>
              </a:ext>
            </a:extLst>
          </p:cNvPr>
          <p:cNvSpPr/>
          <p:nvPr userDrawn="1"/>
        </p:nvSpPr>
        <p:spPr>
          <a:xfrm>
            <a:off x="16938421" y="10202309"/>
            <a:ext cx="1576070" cy="511175"/>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8" name="object 4">
            <a:extLst>
              <a:ext uri="{FF2B5EF4-FFF2-40B4-BE49-F238E27FC236}">
                <a16:creationId xmlns:a16="http://schemas.microsoft.com/office/drawing/2014/main" id="{9DEB8F4A-6C01-284B-B123-A27D152597CD}"/>
              </a:ext>
            </a:extLst>
          </p:cNvPr>
          <p:cNvSpPr/>
          <p:nvPr userDrawn="1"/>
        </p:nvSpPr>
        <p:spPr>
          <a:xfrm>
            <a:off x="18623540" y="10245307"/>
            <a:ext cx="378460" cy="469900"/>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9053919" y="10117702"/>
            <a:ext cx="427355" cy="597535"/>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39138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248CA032-B7CF-AC47-80C3-3DC0FECADE87}"/>
              </a:ext>
            </a:extLst>
          </p:cNvPr>
          <p:cNvSpPr/>
          <p:nvPr userDrawn="1"/>
        </p:nvSpPr>
        <p:spPr>
          <a:xfrm>
            <a:off x="727227" y="10202309"/>
            <a:ext cx="1576070" cy="511175"/>
          </a:xfrm>
          <a:custGeom>
            <a:avLst/>
            <a:gdLst/>
            <a:ahLst/>
            <a:cxnLst/>
            <a:rect l="l" t="t" r="r" b="b"/>
            <a:pathLst>
              <a:path w="1576070"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12" name="object 3">
            <a:extLst>
              <a:ext uri="{FF2B5EF4-FFF2-40B4-BE49-F238E27FC236}">
                <a16:creationId xmlns:a16="http://schemas.microsoft.com/office/drawing/2014/main" id="{AB72D184-1BCC-8E4D-AB97-E7C9B55D20C7}"/>
              </a:ext>
            </a:extLst>
          </p:cNvPr>
          <p:cNvSpPr/>
          <p:nvPr userDrawn="1"/>
        </p:nvSpPr>
        <p:spPr>
          <a:xfrm>
            <a:off x="2412348" y="10245307"/>
            <a:ext cx="378460" cy="469900"/>
          </a:xfrm>
          <a:custGeom>
            <a:avLst/>
            <a:gdLst/>
            <a:ahLst/>
            <a:cxnLst/>
            <a:rect l="l" t="t" r="r" b="b"/>
            <a:pathLst>
              <a:path w="378460"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13" name="object 4">
            <a:extLst>
              <a:ext uri="{FF2B5EF4-FFF2-40B4-BE49-F238E27FC236}">
                <a16:creationId xmlns:a16="http://schemas.microsoft.com/office/drawing/2014/main" id="{A2800012-DA06-CF45-A47A-D4B30EA37B75}"/>
              </a:ext>
            </a:extLst>
          </p:cNvPr>
          <p:cNvGrpSpPr/>
          <p:nvPr userDrawn="1"/>
        </p:nvGrpSpPr>
        <p:grpSpPr>
          <a:xfrm>
            <a:off x="2842727" y="10117702"/>
            <a:ext cx="427355" cy="597535"/>
            <a:chOff x="2842727" y="10117702"/>
            <a:chExt cx="427355" cy="597535"/>
          </a:xfrm>
        </p:grpSpPr>
        <p:sp>
          <p:nvSpPr>
            <p:cNvPr id="14" name="object 5">
              <a:extLst>
                <a:ext uri="{FF2B5EF4-FFF2-40B4-BE49-F238E27FC236}">
                  <a16:creationId xmlns:a16="http://schemas.microsoft.com/office/drawing/2014/main" id="{039AC548-D805-B546-AF98-3B421C054969}"/>
                </a:ext>
              </a:extLst>
            </p:cNvPr>
            <p:cNvSpPr/>
            <p:nvPr/>
          </p:nvSpPr>
          <p:spPr>
            <a:xfrm>
              <a:off x="2842727"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5" name="object 6">
              <a:extLst>
                <a:ext uri="{FF2B5EF4-FFF2-40B4-BE49-F238E27FC236}">
                  <a16:creationId xmlns:a16="http://schemas.microsoft.com/office/drawing/2014/main" id="{DAA5A1C9-3FFD-F741-93B2-F1CDA55129CC}"/>
                </a:ext>
              </a:extLst>
            </p:cNvPr>
            <p:cNvPicPr/>
            <p:nvPr/>
          </p:nvPicPr>
          <p:blipFill>
            <a:blip r:embed="rId2" cstate="email">
              <a:extLst>
                <a:ext uri="{28A0092B-C50C-407E-A947-70E740481C1C}">
                  <a14:useLocalDpi xmlns:a14="http://schemas.microsoft.com/office/drawing/2010/main"/>
                </a:ext>
              </a:extLst>
            </a:blip>
            <a:stretch>
              <a:fillRect/>
            </a:stretch>
          </p:blipFill>
          <p:spPr>
            <a:xfrm>
              <a:off x="3157442" y="10117702"/>
              <a:ext cx="112300" cy="112268"/>
            </a:xfrm>
            <a:prstGeom prst="rect">
              <a:avLst/>
            </a:prstGeom>
          </p:spPr>
        </p:pic>
      </p:grpSp>
      <p:sp>
        <p:nvSpPr>
          <p:cNvPr id="16" name="object 7">
            <a:extLst>
              <a:ext uri="{FF2B5EF4-FFF2-40B4-BE49-F238E27FC236}">
                <a16:creationId xmlns:a16="http://schemas.microsoft.com/office/drawing/2014/main" id="{2AF2BE2F-4D9A-CF4D-AF78-BAD6CC1B2837}"/>
              </a:ext>
            </a:extLst>
          </p:cNvPr>
          <p:cNvSpPr/>
          <p:nvPr userDrawn="1"/>
        </p:nvSpPr>
        <p:spPr>
          <a:xfrm>
            <a:off x="17840597"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18" name="Marcador de texto 17">
            <a:extLst>
              <a:ext uri="{FF2B5EF4-FFF2-40B4-BE49-F238E27FC236}">
                <a16:creationId xmlns:a16="http://schemas.microsoft.com/office/drawing/2014/main" id="{E6AC5AA0-C4FD-A742-898F-2F81DD6B4DF8}"/>
              </a:ext>
            </a:extLst>
          </p:cNvPr>
          <p:cNvSpPr>
            <a:spLocks noGrp="1"/>
          </p:cNvSpPr>
          <p:nvPr>
            <p:ph type="body" sz="quarter" idx="10"/>
          </p:nvPr>
        </p:nvSpPr>
        <p:spPr>
          <a:xfrm>
            <a:off x="727227" y="755454"/>
            <a:ext cx="16792423" cy="738664"/>
          </a:xfrm>
        </p:spPr>
        <p:txBody>
          <a:bodyPr/>
          <a:lstStyle>
            <a:lvl1pPr algn="r">
              <a:defRPr sz="4800" b="1">
                <a:latin typeface="Arial" panose="020B0604020202020204" pitchFamily="34" charset="0"/>
                <a:cs typeface="Arial" panose="020B0604020202020204" pitchFamily="34" charset="0"/>
              </a:defRPr>
            </a:lvl1pPr>
          </a:lstStyle>
          <a:p>
            <a:r>
              <a:rPr lang="es-ES" dirty="0"/>
              <a:t>Editar los estilos de texto del patrón</a:t>
            </a:r>
            <a:endParaRPr lang="es-C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340"/>
            <a:ext cx="20109342" cy="1130561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755650" y="62642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1184428" y="65914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CC49A5DC-7F63-7053-BF30-9BEB915A86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97E369C9-9696-52E0-3D5A-4A3A83A9C2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EDE5CBD5-32E9-715D-214E-87F7F64407EA}"/>
              </a:ext>
            </a:extLst>
          </p:cNvPr>
          <p:cNvSpPr/>
          <p:nvPr userDrawn="1"/>
        </p:nvSpPr>
        <p:spPr>
          <a:xfrm>
            <a:off x="7004050" y="73310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FA2B3E84-593C-1926-74EE-AA7B31F62D0D}"/>
              </a:ext>
            </a:extLst>
          </p:cNvPr>
          <p:cNvSpPr>
            <a:spLocks noGrp="1"/>
          </p:cNvSpPr>
          <p:nvPr>
            <p:ph type="title"/>
          </p:nvPr>
        </p:nvSpPr>
        <p:spPr>
          <a:xfrm>
            <a:off x="7432828" y="76582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654578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21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70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314421" y="714594"/>
            <a:ext cx="5259705" cy="915669"/>
          </a:xfrm>
          <a:prstGeom prst="rect">
            <a:avLst/>
          </a:prstGeom>
        </p:spPr>
        <p:txBody>
          <a:bodyPr wrap="square" lIns="0" tIns="0" rIns="0" bIns="0">
            <a:spAutoFit/>
          </a:bodyPr>
          <a:lstStyle>
            <a:lvl1pPr>
              <a:defRPr sz="5800" b="1" i="0">
                <a:solidFill>
                  <a:schemeClr val="tx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3/19/2024</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9" r:id="rId4"/>
    <p:sldLayoutId id="2147483664" r:id="rId5"/>
    <p:sldLayoutId id="2147483670" r:id="rId6"/>
    <p:sldLayoutId id="2147483677" r:id="rId7"/>
    <p:sldLayoutId id="2147483666" r:id="rId8"/>
    <p:sldLayoutId id="2147483665" r:id="rId9"/>
    <p:sldLayoutId id="2147483663" r:id="rId10"/>
    <p:sldLayoutId id="2147483673" r:id="rId11"/>
    <p:sldLayoutId id="2147483671" r:id="rId12"/>
    <p:sldLayoutId id="2147483678" r:id="rId1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http://folblogg.blogspot.com/p/unidad-de-trabajo-6-forma-juridica-de.html" TargetMode="External"/><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70841C-0ACF-DE6F-43AC-3E3396A2923B}"/>
              </a:ext>
            </a:extLst>
          </p:cNvPr>
          <p:cNvSpPr>
            <a:spLocks noGrp="1"/>
          </p:cNvSpPr>
          <p:nvPr>
            <p:ph type="ctrTitle"/>
          </p:nvPr>
        </p:nvSpPr>
        <p:spPr>
          <a:xfrm>
            <a:off x="2889250" y="8169275"/>
            <a:ext cx="8749511" cy="1169551"/>
          </a:xfrm>
        </p:spPr>
        <p:txBody>
          <a:bodyPr/>
          <a:lstStyle/>
          <a:p>
            <a:r>
              <a:rPr lang="es-CL" sz="3800" spc="-10" dirty="0"/>
              <a:t>BDY1101</a:t>
            </a:r>
            <a:br>
              <a:rPr lang="es-CL" sz="3800" spc="-10" dirty="0"/>
            </a:br>
            <a:r>
              <a:rPr lang="es-CL" sz="3800" b="0" dirty="0"/>
              <a:t>Elementos de un Modelo Conceptual</a:t>
            </a:r>
            <a:endParaRPr lang="es-CL" sz="3800" dirty="0"/>
          </a:p>
        </p:txBody>
      </p:sp>
      <p:sp>
        <p:nvSpPr>
          <p:cNvPr id="3" name="Subtítulo 2">
            <a:extLst>
              <a:ext uri="{FF2B5EF4-FFF2-40B4-BE49-F238E27FC236}">
                <a16:creationId xmlns:a16="http://schemas.microsoft.com/office/drawing/2014/main" id="{B839BAB8-5980-04D6-9003-ABBE79FC69B7}"/>
              </a:ext>
            </a:extLst>
          </p:cNvPr>
          <p:cNvSpPr>
            <a:spLocks noGrp="1"/>
          </p:cNvSpPr>
          <p:nvPr>
            <p:ph type="subTitle" idx="4"/>
          </p:nvPr>
        </p:nvSpPr>
        <p:spPr>
          <a:xfrm>
            <a:off x="2926080" y="9554269"/>
            <a:ext cx="8712681" cy="369332"/>
          </a:xfrm>
        </p:spPr>
        <p:txBody>
          <a:bodyPr/>
          <a:lstStyle/>
          <a:p>
            <a:r>
              <a:rPr lang="es-CL" sz="2400" dirty="0">
                <a:latin typeface="Arial"/>
                <a:cs typeface="Arial"/>
              </a:rPr>
              <a:t> </a:t>
            </a:r>
          </a:p>
        </p:txBody>
      </p:sp>
    </p:spTree>
    <p:extLst>
      <p:ext uri="{BB962C8B-B14F-4D97-AF65-F5344CB8AC3E}">
        <p14:creationId xmlns:p14="http://schemas.microsoft.com/office/powerpoint/2010/main" val="364293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FB337F0-2FCC-924F-952C-07C673B763B0}"/>
              </a:ext>
            </a:extLst>
          </p:cNvPr>
          <p:cNvSpPr/>
          <p:nvPr/>
        </p:nvSpPr>
        <p:spPr>
          <a:xfrm>
            <a:off x="9518650" y="2378075"/>
            <a:ext cx="5357557" cy="1015663"/>
          </a:xfrm>
          <a:prstGeom prst="rect">
            <a:avLst/>
          </a:prstGeom>
        </p:spPr>
        <p:txBody>
          <a:bodyPr wrap="none">
            <a:spAutoFit/>
          </a:bodyPr>
          <a:lstStyle/>
          <a:p>
            <a:r>
              <a:rPr lang="es-CL" sz="6000" b="1" dirty="0">
                <a:latin typeface="Arial Black" panose="020B0604020202020204" pitchFamily="34" charset="0"/>
                <a:cs typeface="Arial Black" panose="020B0604020202020204" pitchFamily="34" charset="0"/>
              </a:rPr>
              <a:t>CONTENIDO</a:t>
            </a:r>
          </a:p>
        </p:txBody>
      </p:sp>
      <p:sp>
        <p:nvSpPr>
          <p:cNvPr id="9" name="Título 1">
            <a:extLst>
              <a:ext uri="{FF2B5EF4-FFF2-40B4-BE49-F238E27FC236}">
                <a16:creationId xmlns:a16="http://schemas.microsoft.com/office/drawing/2014/main" id="{8A3E674A-F038-D144-A91A-8FBF8FFE0F11}"/>
              </a:ext>
            </a:extLst>
          </p:cNvPr>
          <p:cNvSpPr txBox="1">
            <a:spLocks/>
          </p:cNvSpPr>
          <p:nvPr/>
        </p:nvSpPr>
        <p:spPr>
          <a:xfrm>
            <a:off x="9518650"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01</a:t>
            </a:r>
          </a:p>
        </p:txBody>
      </p:sp>
      <p:sp>
        <p:nvSpPr>
          <p:cNvPr id="12" name="Título 1">
            <a:extLst>
              <a:ext uri="{FF2B5EF4-FFF2-40B4-BE49-F238E27FC236}">
                <a16:creationId xmlns:a16="http://schemas.microsoft.com/office/drawing/2014/main" id="{BB375BB0-38DE-5947-A049-E37CBB392147}"/>
              </a:ext>
            </a:extLst>
          </p:cNvPr>
          <p:cNvSpPr txBox="1">
            <a:spLocks/>
          </p:cNvSpPr>
          <p:nvPr/>
        </p:nvSpPr>
        <p:spPr>
          <a:xfrm>
            <a:off x="9617262" y="7026177"/>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Reglas de Negocio</a:t>
            </a:r>
          </a:p>
        </p:txBody>
      </p:sp>
      <p:sp>
        <p:nvSpPr>
          <p:cNvPr id="13" name="Título 1">
            <a:extLst>
              <a:ext uri="{FF2B5EF4-FFF2-40B4-BE49-F238E27FC236}">
                <a16:creationId xmlns:a16="http://schemas.microsoft.com/office/drawing/2014/main" id="{EE8DCEDB-0701-9E4F-B841-31F2AEF95FCF}"/>
              </a:ext>
            </a:extLst>
          </p:cNvPr>
          <p:cNvSpPr txBox="1">
            <a:spLocks/>
          </p:cNvSpPr>
          <p:nvPr/>
        </p:nvSpPr>
        <p:spPr>
          <a:xfrm>
            <a:off x="14771968" y="4782489"/>
            <a:ext cx="4728882"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Narrativas de Usuario</a:t>
            </a:r>
          </a:p>
        </p:txBody>
      </p:sp>
      <p:sp>
        <p:nvSpPr>
          <p:cNvPr id="14" name="Título 1">
            <a:extLst>
              <a:ext uri="{FF2B5EF4-FFF2-40B4-BE49-F238E27FC236}">
                <a16:creationId xmlns:a16="http://schemas.microsoft.com/office/drawing/2014/main" id="{D2775DA9-AA36-2B46-A647-A78656981246}"/>
              </a:ext>
            </a:extLst>
          </p:cNvPr>
          <p:cNvSpPr txBox="1">
            <a:spLocks/>
          </p:cNvSpPr>
          <p:nvPr/>
        </p:nvSpPr>
        <p:spPr>
          <a:xfrm>
            <a:off x="9518650" y="626417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03</a:t>
            </a:r>
          </a:p>
        </p:txBody>
      </p:sp>
      <p:sp>
        <p:nvSpPr>
          <p:cNvPr id="15" name="Título 1">
            <a:extLst>
              <a:ext uri="{FF2B5EF4-FFF2-40B4-BE49-F238E27FC236}">
                <a16:creationId xmlns:a16="http://schemas.microsoft.com/office/drawing/2014/main" id="{AC1579C5-4858-4D42-8518-8DA881E7E42D}"/>
              </a:ext>
            </a:extLst>
          </p:cNvPr>
          <p:cNvSpPr txBox="1">
            <a:spLocks/>
          </p:cNvSpPr>
          <p:nvPr/>
        </p:nvSpPr>
        <p:spPr>
          <a:xfrm>
            <a:off x="14656174"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02</a:t>
            </a:r>
          </a:p>
        </p:txBody>
      </p:sp>
      <p:sp>
        <p:nvSpPr>
          <p:cNvPr id="17" name="Título 1">
            <a:extLst>
              <a:ext uri="{FF2B5EF4-FFF2-40B4-BE49-F238E27FC236}">
                <a16:creationId xmlns:a16="http://schemas.microsoft.com/office/drawing/2014/main" id="{B7BC9C2C-1609-FF42-8176-8EB1FA8D8551}"/>
              </a:ext>
            </a:extLst>
          </p:cNvPr>
          <p:cNvSpPr txBox="1">
            <a:spLocks/>
          </p:cNvSpPr>
          <p:nvPr/>
        </p:nvSpPr>
        <p:spPr>
          <a:xfrm>
            <a:off x="14779065" y="7026177"/>
            <a:ext cx="4183903"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Entidades</a:t>
            </a:r>
          </a:p>
        </p:txBody>
      </p:sp>
      <p:sp>
        <p:nvSpPr>
          <p:cNvPr id="19" name="Título 1">
            <a:extLst>
              <a:ext uri="{FF2B5EF4-FFF2-40B4-BE49-F238E27FC236}">
                <a16:creationId xmlns:a16="http://schemas.microsoft.com/office/drawing/2014/main" id="{20BE2EF9-7124-C94F-B2CA-C7A9C485A48E}"/>
              </a:ext>
            </a:extLst>
          </p:cNvPr>
          <p:cNvSpPr txBox="1">
            <a:spLocks/>
          </p:cNvSpPr>
          <p:nvPr/>
        </p:nvSpPr>
        <p:spPr>
          <a:xfrm>
            <a:off x="14656174" y="626417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04</a:t>
            </a:r>
          </a:p>
        </p:txBody>
      </p:sp>
      <p:sp>
        <p:nvSpPr>
          <p:cNvPr id="2" name="Título 1">
            <a:extLst>
              <a:ext uri="{FF2B5EF4-FFF2-40B4-BE49-F238E27FC236}">
                <a16:creationId xmlns:a16="http://schemas.microsoft.com/office/drawing/2014/main" id="{E0CD1BE9-0AAB-B3B3-C35E-1B0287A90D60}"/>
              </a:ext>
            </a:extLst>
          </p:cNvPr>
          <p:cNvSpPr txBox="1">
            <a:spLocks/>
          </p:cNvSpPr>
          <p:nvPr/>
        </p:nvSpPr>
        <p:spPr>
          <a:xfrm>
            <a:off x="9617262" y="9269866"/>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Tipos de Entidades</a:t>
            </a:r>
          </a:p>
        </p:txBody>
      </p:sp>
      <p:sp>
        <p:nvSpPr>
          <p:cNvPr id="4" name="Título 1">
            <a:extLst>
              <a:ext uri="{FF2B5EF4-FFF2-40B4-BE49-F238E27FC236}">
                <a16:creationId xmlns:a16="http://schemas.microsoft.com/office/drawing/2014/main" id="{11F6FFC7-E194-EED0-B294-9E8F37916A51}"/>
              </a:ext>
            </a:extLst>
          </p:cNvPr>
          <p:cNvSpPr txBox="1">
            <a:spLocks/>
          </p:cNvSpPr>
          <p:nvPr/>
        </p:nvSpPr>
        <p:spPr>
          <a:xfrm>
            <a:off x="9518650" y="8507866"/>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05</a:t>
            </a:r>
          </a:p>
        </p:txBody>
      </p:sp>
      <p:sp>
        <p:nvSpPr>
          <p:cNvPr id="5" name="Título 1">
            <a:extLst>
              <a:ext uri="{FF2B5EF4-FFF2-40B4-BE49-F238E27FC236}">
                <a16:creationId xmlns:a16="http://schemas.microsoft.com/office/drawing/2014/main" id="{2767A235-598C-B413-FE36-6A8C7D73C74B}"/>
              </a:ext>
            </a:extLst>
          </p:cNvPr>
          <p:cNvSpPr txBox="1">
            <a:spLocks/>
          </p:cNvSpPr>
          <p:nvPr/>
        </p:nvSpPr>
        <p:spPr>
          <a:xfrm>
            <a:off x="9617262" y="4782488"/>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Conceptos Básicos</a:t>
            </a:r>
          </a:p>
        </p:txBody>
      </p:sp>
    </p:spTree>
    <p:extLst>
      <p:ext uri="{BB962C8B-B14F-4D97-AF65-F5344CB8AC3E}">
        <p14:creationId xmlns:p14="http://schemas.microsoft.com/office/powerpoint/2010/main" val="39794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4FE4634-98DF-A44A-92BF-86BBAE37A404}"/>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01</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1517650" y="7712075"/>
            <a:ext cx="8305800" cy="738664"/>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4800" dirty="0"/>
              <a:t>CONCEPTOS BÁSICOS</a:t>
            </a:r>
          </a:p>
        </p:txBody>
      </p:sp>
    </p:spTree>
    <p:extLst>
      <p:ext uri="{BB962C8B-B14F-4D97-AF65-F5344CB8AC3E}">
        <p14:creationId xmlns:p14="http://schemas.microsoft.com/office/powerpoint/2010/main" val="3440535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CONCEPTOS BÁSICOS</a:t>
            </a:r>
            <a:endParaRPr lang="es-CL" dirty="0"/>
          </a:p>
        </p:txBody>
      </p:sp>
      <p:sp>
        <p:nvSpPr>
          <p:cNvPr id="6" name="CuadroTexto 5">
            <a:extLst>
              <a:ext uri="{FF2B5EF4-FFF2-40B4-BE49-F238E27FC236}">
                <a16:creationId xmlns:a16="http://schemas.microsoft.com/office/drawing/2014/main" id="{63604FC7-EECC-9A5C-0518-2AAA75CF95F9}"/>
              </a:ext>
            </a:extLst>
          </p:cNvPr>
          <p:cNvSpPr txBox="1"/>
          <p:nvPr/>
        </p:nvSpPr>
        <p:spPr>
          <a:xfrm>
            <a:off x="908050" y="2448858"/>
            <a:ext cx="18288000" cy="6863417"/>
          </a:xfrm>
          <a:prstGeom prst="rect">
            <a:avLst/>
          </a:prstGeom>
          <a:noFill/>
        </p:spPr>
        <p:txBody>
          <a:bodyPr wrap="square">
            <a:spAutoFit/>
          </a:bodyPr>
          <a:lstStyle/>
          <a:p>
            <a:pPr algn="just"/>
            <a:r>
              <a:rPr lang="es-ES" sz="4000" dirty="0">
                <a:solidFill>
                  <a:srgbClr val="818990"/>
                </a:solidFill>
                <a:latin typeface="Calibri" panose="020F0502020204030204" pitchFamily="34" charset="0"/>
              </a:rPr>
              <a:t>La creación de un modelo conceptual proporciona </a:t>
            </a:r>
          </a:p>
          <a:p>
            <a:pPr marL="571500" indent="-571500" algn="just">
              <a:buFont typeface="Arial" panose="020B0604020202020204" pitchFamily="34" charset="0"/>
              <a:buChar char="•"/>
            </a:pPr>
            <a:r>
              <a:rPr lang="es-ES" sz="4000" dirty="0">
                <a:solidFill>
                  <a:srgbClr val="818990"/>
                </a:solidFill>
                <a:latin typeface="Calibri" panose="020F0502020204030204" pitchFamily="34" charset="0"/>
              </a:rPr>
              <a:t>Un formato claro y preciso para las necesidades de información de una organización.</a:t>
            </a:r>
          </a:p>
          <a:p>
            <a:pPr marL="571500" indent="-571500" algn="just">
              <a:buFont typeface="Arial" panose="020B0604020202020204" pitchFamily="34" charset="0"/>
              <a:buChar char="•"/>
            </a:pPr>
            <a:r>
              <a:rPr lang="es-ES" sz="4000" dirty="0">
                <a:solidFill>
                  <a:srgbClr val="818990"/>
                </a:solidFill>
                <a:latin typeface="Calibri" panose="020F0502020204030204" pitchFamily="34" charset="0"/>
              </a:rPr>
              <a:t>Una imagen que los usuarios pueden fácilmente comprender.</a:t>
            </a:r>
          </a:p>
          <a:p>
            <a:pPr marL="571500" indent="-571500" algn="just">
              <a:buFont typeface="Arial" panose="020B0604020202020204" pitchFamily="34" charset="0"/>
              <a:buChar char="•"/>
            </a:pPr>
            <a:r>
              <a:rPr lang="es-ES" sz="4000" dirty="0">
                <a:solidFill>
                  <a:srgbClr val="818990"/>
                </a:solidFill>
                <a:latin typeface="Calibri" panose="020F0502020204030204" pitchFamily="34" charset="0"/>
              </a:rPr>
              <a:t>Una forma de desarrollar y refinar fácilmente el modelo.</a:t>
            </a:r>
          </a:p>
          <a:p>
            <a:pPr marL="571500" indent="-571500" algn="just">
              <a:buFont typeface="Arial" panose="020B0604020202020204" pitchFamily="34" charset="0"/>
              <a:buChar char="•"/>
            </a:pPr>
            <a:r>
              <a:rPr lang="es-ES" sz="4000" dirty="0">
                <a:solidFill>
                  <a:srgbClr val="818990"/>
                </a:solidFill>
                <a:latin typeface="Calibri" panose="020F0502020204030204" pitchFamily="34" charset="0"/>
              </a:rPr>
              <a:t>Una imagen clara del alcance del proyecto.</a:t>
            </a:r>
          </a:p>
          <a:p>
            <a:pPr marL="571500" indent="-571500" algn="just">
              <a:buFont typeface="Arial" panose="020B0604020202020204" pitchFamily="34" charset="0"/>
              <a:buChar char="•"/>
            </a:pPr>
            <a:r>
              <a:rPr lang="es-ES" sz="4000" dirty="0">
                <a:solidFill>
                  <a:srgbClr val="818990"/>
                </a:solidFill>
                <a:latin typeface="Calibri" panose="020F0502020204030204" pitchFamily="34" charset="0"/>
              </a:rPr>
              <a:t>Un modelo independiente de cualquier almacenamiento de datos y método de</a:t>
            </a:r>
            <a:endParaRPr lang="es-ES" sz="4000" b="1" dirty="0">
              <a:solidFill>
                <a:srgbClr val="818990"/>
              </a:solidFill>
              <a:latin typeface="Calibri" panose="020F0502020204030204" pitchFamily="34" charset="0"/>
            </a:endParaRPr>
          </a:p>
          <a:p>
            <a:pPr algn="just"/>
            <a:endParaRPr lang="es-ES" sz="4000" b="1" dirty="0">
              <a:solidFill>
                <a:srgbClr val="818990"/>
              </a:solidFill>
              <a:latin typeface="Calibri" panose="020F0502020204030204" pitchFamily="34" charset="0"/>
            </a:endParaRPr>
          </a:p>
          <a:p>
            <a:pPr algn="just"/>
            <a:r>
              <a:rPr lang="es-ES" sz="4000" dirty="0">
                <a:solidFill>
                  <a:srgbClr val="818990"/>
                </a:solidFill>
                <a:latin typeface="Calibri" panose="020F0502020204030204" pitchFamily="34" charset="0"/>
              </a:rPr>
              <a:t>Principalmente, identifica los asuntos de importancia dentro de una organización y que en este modelo se denomina </a:t>
            </a:r>
            <a:r>
              <a:rPr lang="es-ES" sz="4000" b="1" dirty="0">
                <a:solidFill>
                  <a:srgbClr val="818990"/>
                </a:solidFill>
                <a:latin typeface="Calibri" panose="020F0502020204030204" pitchFamily="34" charset="0"/>
              </a:rPr>
              <a:t>ENTIDADES</a:t>
            </a:r>
            <a:r>
              <a:rPr lang="es-ES" sz="4000" dirty="0">
                <a:solidFill>
                  <a:srgbClr val="818990"/>
                </a:solidFill>
                <a:latin typeface="Calibri" panose="020F0502020204030204" pitchFamily="34" charset="0"/>
              </a:rPr>
              <a:t>, las propiedades de esos asuntos que corresponden a los </a:t>
            </a:r>
            <a:r>
              <a:rPr lang="es-ES" sz="4000" b="1" dirty="0">
                <a:solidFill>
                  <a:srgbClr val="818990"/>
                </a:solidFill>
                <a:latin typeface="Calibri" panose="020F0502020204030204" pitchFamily="34" charset="0"/>
              </a:rPr>
              <a:t>ATRIBUTOS</a:t>
            </a:r>
            <a:r>
              <a:rPr lang="es-ES" sz="4000" dirty="0">
                <a:solidFill>
                  <a:srgbClr val="818990"/>
                </a:solidFill>
                <a:latin typeface="Calibri" panose="020F0502020204030204" pitchFamily="34" charset="0"/>
              </a:rPr>
              <a:t> y cómo se relacionan entre sí  lo que se conoce como</a:t>
            </a:r>
          </a:p>
          <a:p>
            <a:pPr algn="just"/>
            <a:r>
              <a:rPr lang="es-ES" sz="4000" b="1" dirty="0">
                <a:solidFill>
                  <a:srgbClr val="818990"/>
                </a:solidFill>
                <a:latin typeface="Calibri" panose="020F0502020204030204" pitchFamily="34" charset="0"/>
              </a:rPr>
              <a:t>RELACIONES</a:t>
            </a:r>
            <a:r>
              <a:rPr lang="es-ES" sz="4000" dirty="0">
                <a:solidFill>
                  <a:srgbClr val="818990"/>
                </a:solidFill>
                <a:latin typeface="Calibri" panose="020F0502020204030204" pitchFamily="34" charset="0"/>
              </a:rPr>
              <a:t>.</a:t>
            </a:r>
          </a:p>
        </p:txBody>
      </p:sp>
    </p:spTree>
    <p:extLst>
      <p:ext uri="{BB962C8B-B14F-4D97-AF65-F5344CB8AC3E}">
        <p14:creationId xmlns:p14="http://schemas.microsoft.com/office/powerpoint/2010/main" val="2735456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CA21F-38EC-B202-B448-64E4C2B36A4C}"/>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123A56C0-7C23-5024-FF82-6C13BF1D46A9}"/>
              </a:ext>
            </a:extLst>
          </p:cNvPr>
          <p:cNvSpPr>
            <a:spLocks noGrp="1"/>
          </p:cNvSpPr>
          <p:nvPr>
            <p:ph type="body" sz="quarter" idx="10"/>
          </p:nvPr>
        </p:nvSpPr>
        <p:spPr/>
        <p:txBody>
          <a:bodyPr/>
          <a:lstStyle/>
          <a:p>
            <a:r>
              <a:rPr lang="es-MX" dirty="0"/>
              <a:t>ETAPAS DEL MODELAMIENTO DE BASE DE DATOS</a:t>
            </a:r>
            <a:endParaRPr lang="es-CL" dirty="0"/>
          </a:p>
        </p:txBody>
      </p:sp>
      <p:grpSp>
        <p:nvGrpSpPr>
          <p:cNvPr id="23" name="Grupo 22">
            <a:extLst>
              <a:ext uri="{FF2B5EF4-FFF2-40B4-BE49-F238E27FC236}">
                <a16:creationId xmlns:a16="http://schemas.microsoft.com/office/drawing/2014/main" id="{BF639B3B-8649-E832-9B73-6F00BBF7E726}"/>
              </a:ext>
            </a:extLst>
          </p:cNvPr>
          <p:cNvGrpSpPr/>
          <p:nvPr/>
        </p:nvGrpSpPr>
        <p:grpSpPr>
          <a:xfrm>
            <a:off x="4184650" y="1692275"/>
            <a:ext cx="12673686" cy="9418357"/>
            <a:chOff x="4184650" y="1692275"/>
            <a:chExt cx="12673686" cy="9418357"/>
          </a:xfrm>
        </p:grpSpPr>
        <p:pic>
          <p:nvPicPr>
            <p:cNvPr id="21" name="Imagen 20">
              <a:extLst>
                <a:ext uri="{FF2B5EF4-FFF2-40B4-BE49-F238E27FC236}">
                  <a16:creationId xmlns:a16="http://schemas.microsoft.com/office/drawing/2014/main" id="{8B4AA485-1FE1-617D-78E2-1294DC213415}"/>
                </a:ext>
              </a:extLst>
            </p:cNvPr>
            <p:cNvPicPr>
              <a:picLocks noChangeAspect="1"/>
            </p:cNvPicPr>
            <p:nvPr/>
          </p:nvPicPr>
          <p:blipFill rotWithShape="1">
            <a:blip r:embed="rId2"/>
            <a:srcRect t="2371" b="1574"/>
            <a:stretch/>
          </p:blipFill>
          <p:spPr>
            <a:xfrm>
              <a:off x="4337050" y="1692275"/>
              <a:ext cx="12521286" cy="9296400"/>
            </a:xfrm>
            <a:prstGeom prst="rect">
              <a:avLst/>
            </a:prstGeom>
          </p:spPr>
        </p:pic>
        <p:sp>
          <p:nvSpPr>
            <p:cNvPr id="22" name="Triángulo rectángulo 21">
              <a:extLst>
                <a:ext uri="{FF2B5EF4-FFF2-40B4-BE49-F238E27FC236}">
                  <a16:creationId xmlns:a16="http://schemas.microsoft.com/office/drawing/2014/main" id="{7B47162F-2E4D-1C71-C478-A5153A2EB995}"/>
                </a:ext>
              </a:extLst>
            </p:cNvPr>
            <p:cNvSpPr/>
            <p:nvPr/>
          </p:nvSpPr>
          <p:spPr>
            <a:xfrm>
              <a:off x="4184650" y="10379075"/>
              <a:ext cx="1371600" cy="731557"/>
            </a:xfrm>
            <a:prstGeom prst="rtTriangle">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L"/>
            </a:p>
          </p:txBody>
        </p:sp>
      </p:grpSp>
    </p:spTree>
    <p:extLst>
      <p:ext uri="{BB962C8B-B14F-4D97-AF65-F5344CB8AC3E}">
        <p14:creationId xmlns:p14="http://schemas.microsoft.com/office/powerpoint/2010/main" val="3667670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DB65D-D7A1-0355-978A-A9C6CC5179B0}"/>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E6374095-7A84-1D9E-D50D-7D157738BB9B}"/>
              </a:ext>
            </a:extLst>
          </p:cNvPr>
          <p:cNvSpPr>
            <a:spLocks noGrp="1"/>
          </p:cNvSpPr>
          <p:nvPr>
            <p:ph type="body" sz="quarter" idx="10"/>
          </p:nvPr>
        </p:nvSpPr>
        <p:spPr>
          <a:xfrm>
            <a:off x="727227" y="755454"/>
            <a:ext cx="16792423" cy="677108"/>
          </a:xfrm>
        </p:spPr>
        <p:txBody>
          <a:bodyPr/>
          <a:lstStyle/>
          <a:p>
            <a:r>
              <a:rPr lang="es-MX" sz="4400" dirty="0"/>
              <a:t>MODELO CONCEPTUAL – MODELO ENTIDAD RELACIÓN MER</a:t>
            </a:r>
            <a:endParaRPr lang="es-CL" sz="4400" dirty="0"/>
          </a:p>
        </p:txBody>
      </p:sp>
      <p:pic>
        <p:nvPicPr>
          <p:cNvPr id="4" name="Imagen 3">
            <a:extLst>
              <a:ext uri="{FF2B5EF4-FFF2-40B4-BE49-F238E27FC236}">
                <a16:creationId xmlns:a16="http://schemas.microsoft.com/office/drawing/2014/main" id="{49B44AD7-6A4D-CAFF-4CAA-172F79AF5A6B}"/>
              </a:ext>
            </a:extLst>
          </p:cNvPr>
          <p:cNvPicPr>
            <a:picLocks noChangeAspect="1"/>
          </p:cNvPicPr>
          <p:nvPr/>
        </p:nvPicPr>
        <p:blipFill rotWithShape="1">
          <a:blip r:embed="rId3"/>
          <a:srcRect l="998" r="1384"/>
          <a:stretch/>
        </p:blipFill>
        <p:spPr>
          <a:xfrm>
            <a:off x="99612" y="3477995"/>
            <a:ext cx="19904877" cy="4843680"/>
          </a:xfrm>
          <a:prstGeom prst="rect">
            <a:avLst/>
          </a:prstGeom>
        </p:spPr>
      </p:pic>
    </p:spTree>
    <p:extLst>
      <p:ext uri="{BB962C8B-B14F-4D97-AF65-F5344CB8AC3E}">
        <p14:creationId xmlns:p14="http://schemas.microsoft.com/office/powerpoint/2010/main" val="1533631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2E5A4-689F-A947-2068-BD9E2C0E567C}"/>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4614125-5EE9-F2B2-66F4-55E5AFFE101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35061" y="3249394"/>
            <a:ext cx="18633979" cy="5834281"/>
          </a:xfrm>
          <a:prstGeom prst="rect">
            <a:avLst/>
          </a:prstGeom>
        </p:spPr>
      </p:pic>
      <p:sp>
        <p:nvSpPr>
          <p:cNvPr id="6" name="Marcador de texto 1">
            <a:extLst>
              <a:ext uri="{FF2B5EF4-FFF2-40B4-BE49-F238E27FC236}">
                <a16:creationId xmlns:a16="http://schemas.microsoft.com/office/drawing/2014/main" id="{C6DEFED1-47AB-A3EB-C991-4BD4D8F5BCF5}"/>
              </a:ext>
            </a:extLst>
          </p:cNvPr>
          <p:cNvSpPr>
            <a:spLocks noGrp="1"/>
          </p:cNvSpPr>
          <p:nvPr>
            <p:ph type="body" sz="quarter" idx="10"/>
          </p:nvPr>
        </p:nvSpPr>
        <p:spPr>
          <a:xfrm>
            <a:off x="727227" y="755454"/>
            <a:ext cx="16792423" cy="677108"/>
          </a:xfrm>
        </p:spPr>
        <p:txBody>
          <a:bodyPr/>
          <a:lstStyle/>
          <a:p>
            <a:r>
              <a:rPr lang="es-MX" sz="4400" dirty="0"/>
              <a:t>MODELO RELACIONAL – MR</a:t>
            </a:r>
            <a:endParaRPr lang="es-CL" sz="4400" dirty="0"/>
          </a:p>
        </p:txBody>
      </p:sp>
    </p:spTree>
    <p:extLst>
      <p:ext uri="{BB962C8B-B14F-4D97-AF65-F5344CB8AC3E}">
        <p14:creationId xmlns:p14="http://schemas.microsoft.com/office/powerpoint/2010/main" val="1103496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6ABC6-40F2-DDCF-AA86-2F1CFD887330}"/>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6F069D1-6B1C-B07C-8943-195EDBB842C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23982" y="3717493"/>
            <a:ext cx="19056137" cy="5442381"/>
          </a:xfrm>
          <a:prstGeom prst="rect">
            <a:avLst/>
          </a:prstGeom>
        </p:spPr>
      </p:pic>
      <p:sp>
        <p:nvSpPr>
          <p:cNvPr id="6" name="Marcador de texto 1">
            <a:extLst>
              <a:ext uri="{FF2B5EF4-FFF2-40B4-BE49-F238E27FC236}">
                <a16:creationId xmlns:a16="http://schemas.microsoft.com/office/drawing/2014/main" id="{B0CEB3CD-1A7E-59A5-314F-1491B813749B}"/>
              </a:ext>
            </a:extLst>
          </p:cNvPr>
          <p:cNvSpPr>
            <a:spLocks noGrp="1"/>
          </p:cNvSpPr>
          <p:nvPr>
            <p:ph type="body" sz="quarter" idx="10"/>
          </p:nvPr>
        </p:nvSpPr>
        <p:spPr>
          <a:xfrm>
            <a:off x="727227" y="755454"/>
            <a:ext cx="16792423" cy="677108"/>
          </a:xfrm>
        </p:spPr>
        <p:txBody>
          <a:bodyPr/>
          <a:lstStyle/>
          <a:p>
            <a:r>
              <a:rPr lang="es-MX" sz="4400" dirty="0"/>
              <a:t>MODELO FÍSICO – GENERACIÓN DE BASE DE DATOS</a:t>
            </a:r>
            <a:endParaRPr lang="es-CL" sz="4400" dirty="0"/>
          </a:p>
        </p:txBody>
      </p:sp>
    </p:spTree>
    <p:extLst>
      <p:ext uri="{BB962C8B-B14F-4D97-AF65-F5344CB8AC3E}">
        <p14:creationId xmlns:p14="http://schemas.microsoft.com/office/powerpoint/2010/main" val="550944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CFE03-5B42-D538-4941-D440A0066FF5}"/>
            </a:ext>
          </a:extLst>
        </p:cNvPr>
        <p:cNvGrpSpPr/>
        <p:nvPr/>
      </p:nvGrpSpPr>
      <p:grpSpPr>
        <a:xfrm>
          <a:off x="0" y="0"/>
          <a:ext cx="0" cy="0"/>
          <a:chOff x="0" y="0"/>
          <a:chExt cx="0" cy="0"/>
        </a:xfrm>
      </p:grpSpPr>
      <p:sp>
        <p:nvSpPr>
          <p:cNvPr id="6" name="Marcador de texto 1">
            <a:extLst>
              <a:ext uri="{FF2B5EF4-FFF2-40B4-BE49-F238E27FC236}">
                <a16:creationId xmlns:a16="http://schemas.microsoft.com/office/drawing/2014/main" id="{F1F8F03E-F60B-DD21-2BDA-7A15D2BE11E0}"/>
              </a:ext>
            </a:extLst>
          </p:cNvPr>
          <p:cNvSpPr>
            <a:spLocks noGrp="1"/>
          </p:cNvSpPr>
          <p:nvPr>
            <p:ph type="body" sz="quarter" idx="10"/>
          </p:nvPr>
        </p:nvSpPr>
        <p:spPr>
          <a:xfrm>
            <a:off x="727227" y="755454"/>
            <a:ext cx="16792423" cy="677108"/>
          </a:xfrm>
        </p:spPr>
        <p:txBody>
          <a:bodyPr/>
          <a:lstStyle/>
          <a:p>
            <a:r>
              <a:rPr lang="es-MX" sz="4400" dirty="0"/>
              <a:t>ELEMENTOS DE UN MODELO ENTIDAD RELACION – MER</a:t>
            </a:r>
            <a:endParaRPr lang="es-CL" sz="4400" dirty="0"/>
          </a:p>
        </p:txBody>
      </p:sp>
      <p:pic>
        <p:nvPicPr>
          <p:cNvPr id="3" name="Imagen 2">
            <a:extLst>
              <a:ext uri="{FF2B5EF4-FFF2-40B4-BE49-F238E27FC236}">
                <a16:creationId xmlns:a16="http://schemas.microsoft.com/office/drawing/2014/main" id="{A6444214-2B37-4CC6-E0A4-EC713FD6660A}"/>
              </a:ext>
            </a:extLst>
          </p:cNvPr>
          <p:cNvPicPr>
            <a:picLocks noChangeAspect="1"/>
          </p:cNvPicPr>
          <p:nvPr/>
        </p:nvPicPr>
        <p:blipFill>
          <a:blip r:embed="rId3"/>
          <a:stretch>
            <a:fillRect/>
          </a:stretch>
        </p:blipFill>
        <p:spPr>
          <a:xfrm>
            <a:off x="3346450" y="2378075"/>
            <a:ext cx="15375333" cy="8487486"/>
          </a:xfrm>
          <a:prstGeom prst="rect">
            <a:avLst/>
          </a:prstGeom>
        </p:spPr>
      </p:pic>
    </p:spTree>
    <p:extLst>
      <p:ext uri="{BB962C8B-B14F-4D97-AF65-F5344CB8AC3E}">
        <p14:creationId xmlns:p14="http://schemas.microsoft.com/office/powerpoint/2010/main" val="37707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7A9F761-F66D-564C-A85F-5D24B1E7B998}"/>
              </a:ext>
            </a:extLst>
          </p:cNvPr>
          <p:cNvSpPr>
            <a:spLocks noGrp="1"/>
          </p:cNvSpPr>
          <p:nvPr>
            <p:ph type="title"/>
          </p:nvPr>
        </p:nvSpPr>
        <p:spPr>
          <a:xfrm>
            <a:off x="2965450" y="7559675"/>
            <a:ext cx="11582400" cy="2031325"/>
          </a:xfrm>
        </p:spPr>
        <p:txBody>
          <a:bodyPr/>
          <a:lstStyle/>
          <a:p>
            <a:pPr algn="r"/>
            <a:r>
              <a:rPr lang="es-CL" sz="6600" dirty="0"/>
              <a:t>NARRATIVAS DE USUARIO</a:t>
            </a:r>
          </a:p>
        </p:txBody>
      </p:sp>
      <p:sp>
        <p:nvSpPr>
          <p:cNvPr id="4" name="Título 1">
            <a:extLst>
              <a:ext uri="{FF2B5EF4-FFF2-40B4-BE49-F238E27FC236}">
                <a16:creationId xmlns:a16="http://schemas.microsoft.com/office/drawing/2014/main" id="{DC622BE7-4A49-A749-B2F2-EA3AD97A1AEF}"/>
              </a:ext>
            </a:extLst>
          </p:cNvPr>
          <p:cNvSpPr txBox="1">
            <a:spLocks/>
          </p:cNvSpPr>
          <p:nvPr/>
        </p:nvSpPr>
        <p:spPr>
          <a:xfrm>
            <a:off x="12677531" y="6082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02</a:t>
            </a:r>
          </a:p>
        </p:txBody>
      </p:sp>
    </p:spTree>
    <p:extLst>
      <p:ext uri="{BB962C8B-B14F-4D97-AF65-F5344CB8AC3E}">
        <p14:creationId xmlns:p14="http://schemas.microsoft.com/office/powerpoint/2010/main" val="3117571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sz="4800" dirty="0"/>
              <a:t>NARRATIVAS DE USUARIO</a:t>
            </a:r>
            <a:endParaRPr lang="es-CL" dirty="0"/>
          </a:p>
        </p:txBody>
      </p:sp>
      <p:sp>
        <p:nvSpPr>
          <p:cNvPr id="4" name="CuadroTexto 3">
            <a:extLst>
              <a:ext uri="{FF2B5EF4-FFF2-40B4-BE49-F238E27FC236}">
                <a16:creationId xmlns:a16="http://schemas.microsoft.com/office/drawing/2014/main" id="{49CAB5BC-5A14-4039-B5DE-FC66EF176185}"/>
              </a:ext>
            </a:extLst>
          </p:cNvPr>
          <p:cNvSpPr txBox="1"/>
          <p:nvPr/>
        </p:nvSpPr>
        <p:spPr>
          <a:xfrm>
            <a:off x="1060450" y="2759075"/>
            <a:ext cx="8001000" cy="4524315"/>
          </a:xfrm>
          <a:prstGeom prst="rect">
            <a:avLst/>
          </a:prstGeom>
          <a:noFill/>
        </p:spPr>
        <p:txBody>
          <a:bodyPr wrap="square">
            <a:spAutoFit/>
          </a:bodyPr>
          <a:lstStyle/>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Las narrativas de usuario son los elementos que entrega el cliente en reuniones para especificar las principales necesidades que requiere resolver. Estos elementos permitirán al equipo desarrollador conocer y comprender de primera instancia la lógica y necesidades del negocio.</a:t>
            </a:r>
          </a:p>
        </p:txBody>
      </p:sp>
      <p:sp>
        <p:nvSpPr>
          <p:cNvPr id="3" name="CuadroTexto 2">
            <a:extLst>
              <a:ext uri="{FF2B5EF4-FFF2-40B4-BE49-F238E27FC236}">
                <a16:creationId xmlns:a16="http://schemas.microsoft.com/office/drawing/2014/main" id="{49CAB5BC-5A14-4039-B5DE-FC66EF176185}"/>
              </a:ext>
            </a:extLst>
          </p:cNvPr>
          <p:cNvSpPr txBox="1"/>
          <p:nvPr/>
        </p:nvSpPr>
        <p:spPr>
          <a:xfrm>
            <a:off x="9862344" y="2790309"/>
            <a:ext cx="9181306" cy="6750566"/>
          </a:xfrm>
          <a:prstGeom prst="rect">
            <a:avLst/>
          </a:prstGeom>
          <a:noFill/>
        </p:spPr>
        <p:txBody>
          <a:bodyPr wrap="square">
            <a:spAutoFit/>
          </a:bodyPr>
          <a:lstStyle/>
          <a:p>
            <a:pPr algn="just" rtl="0" fontAlgn="base">
              <a:spcBef>
                <a:spcPts val="1000"/>
              </a:spcBef>
              <a:spcAft>
                <a:spcPts val="0"/>
              </a:spcAft>
            </a:pPr>
            <a:r>
              <a:rPr lang="es-ES" sz="3200" b="1" i="0" u="none" strike="noStrike" dirty="0">
                <a:solidFill>
                  <a:srgbClr val="818990"/>
                </a:solidFill>
                <a:effectLst/>
                <a:latin typeface="Calibri" panose="020F0502020204030204" pitchFamily="34" charset="0"/>
              </a:rPr>
              <a:t>Ejemplo de Narrativa de Usuario</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El cliente en una reunión da a conocer las necesidades que quiere cubrir. El comenta que su local de venta de productos de alimento para mascotas requiere contar con un sistema que pueda emitir facturas electrónicas, para así mantener un control de los productos que mantiene en stock como los que se han vendido durante, el día. </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Dentro de una de sus especificaciones el usuario indica que requiere que toda venta sobre un valor pre determinado cuente con un porcentaje de descuento de forma automática por el nuevo sistema y desarrollo del modelo de base de datos.</a:t>
            </a:r>
          </a:p>
        </p:txBody>
      </p:sp>
      <p:pic>
        <p:nvPicPr>
          <p:cNvPr id="5" name="Imagen 4" descr="Una caricatura de una persona&#10;&#10;Descripción generada automáticamente con confianza media">
            <a:extLst>
              <a:ext uri="{FF2B5EF4-FFF2-40B4-BE49-F238E27FC236}">
                <a16:creationId xmlns:a16="http://schemas.microsoft.com/office/drawing/2014/main" id="{5F0D1351-28EE-4020-97A7-21CC15397B7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822450" y="7436201"/>
            <a:ext cx="6400798" cy="3200400"/>
          </a:xfrm>
          <a:prstGeom prst="rect">
            <a:avLst/>
          </a:prstGeom>
        </p:spPr>
      </p:pic>
    </p:spTree>
    <p:extLst>
      <p:ext uri="{BB962C8B-B14F-4D97-AF65-F5344CB8AC3E}">
        <p14:creationId xmlns:p14="http://schemas.microsoft.com/office/powerpoint/2010/main" val="214962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4FE4634-98DF-A44A-92BF-86BBAE37A404}"/>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03</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1441450" y="7559675"/>
            <a:ext cx="8305800" cy="923330"/>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ES" sz="6000" dirty="0"/>
              <a:t>R</a:t>
            </a:r>
            <a:r>
              <a:rPr lang="es-CL" sz="6000" dirty="0"/>
              <a:t>EGLAS DE NEGOCIO</a:t>
            </a:r>
          </a:p>
        </p:txBody>
      </p:sp>
    </p:spTree>
    <p:extLst>
      <p:ext uri="{BB962C8B-B14F-4D97-AF65-F5344CB8AC3E}">
        <p14:creationId xmlns:p14="http://schemas.microsoft.com/office/powerpoint/2010/main" val="22576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REGLAS DE NEGOCIO</a:t>
            </a:r>
            <a:endParaRPr lang="es-CL" dirty="0"/>
          </a:p>
        </p:txBody>
      </p:sp>
      <p:sp>
        <p:nvSpPr>
          <p:cNvPr id="6" name="CuadroTexto 5">
            <a:extLst>
              <a:ext uri="{FF2B5EF4-FFF2-40B4-BE49-F238E27FC236}">
                <a16:creationId xmlns:a16="http://schemas.microsoft.com/office/drawing/2014/main" id="{63604FC7-EECC-9A5C-0518-2AAA75CF95F9}"/>
              </a:ext>
            </a:extLst>
          </p:cNvPr>
          <p:cNvSpPr txBox="1"/>
          <p:nvPr/>
        </p:nvSpPr>
        <p:spPr>
          <a:xfrm>
            <a:off x="718344" y="2168217"/>
            <a:ext cx="9409906" cy="6991658"/>
          </a:xfrm>
          <a:prstGeom prst="rect">
            <a:avLst/>
          </a:prstGeom>
          <a:noFill/>
        </p:spPr>
        <p:txBody>
          <a:bodyPr wrap="square">
            <a:spAutoFit/>
          </a:bodyPr>
          <a:lstStyle/>
          <a:p>
            <a:pPr algn="just" rtl="0" fontAlgn="base">
              <a:spcBef>
                <a:spcPts val="1000"/>
              </a:spcBef>
              <a:spcAft>
                <a:spcPts val="0"/>
              </a:spcAft>
            </a:pPr>
            <a:r>
              <a:rPr lang="es-ES" sz="4000" b="0" i="0" u="none" strike="noStrike" dirty="0">
                <a:solidFill>
                  <a:srgbClr val="818990"/>
                </a:solidFill>
                <a:effectLst/>
                <a:latin typeface="Calibri" panose="020F0502020204030204" pitchFamily="34" charset="0"/>
              </a:rPr>
              <a:t>Describen las políticas, normas, operaciones, definiciones y restricciones presentes en una organización y que son de vital importancia para alcanzar los objetivos. </a:t>
            </a:r>
          </a:p>
          <a:p>
            <a:pPr algn="just" rtl="0" fontAlgn="base">
              <a:spcBef>
                <a:spcPts val="1000"/>
              </a:spcBef>
              <a:spcAft>
                <a:spcPts val="0"/>
              </a:spcAft>
            </a:pPr>
            <a:r>
              <a:rPr lang="es-ES" sz="4000" b="0" i="0" u="none" strike="noStrike" dirty="0">
                <a:solidFill>
                  <a:srgbClr val="818990"/>
                </a:solidFill>
                <a:effectLst/>
                <a:latin typeface="Calibri" panose="020F0502020204030204" pitchFamily="34" charset="0"/>
              </a:rPr>
              <a:t>Las organizaciones funcionan siguiendo múltiples reglas de negocio, explícitas o tácitas, que están embebidas en procesos, aplicaciones informáticas, documentos, etc. Pueden residir en la cabeza de algunas personas o en el código fuente de programas informáticos. </a:t>
            </a:r>
          </a:p>
        </p:txBody>
      </p:sp>
      <p:sp>
        <p:nvSpPr>
          <p:cNvPr id="3" name="CuadroTexto 2">
            <a:extLst>
              <a:ext uri="{FF2B5EF4-FFF2-40B4-BE49-F238E27FC236}">
                <a16:creationId xmlns:a16="http://schemas.microsoft.com/office/drawing/2014/main" id="{DF1E9C86-AFD6-6DD5-1C08-5BCB4E544227}"/>
              </a:ext>
            </a:extLst>
          </p:cNvPr>
          <p:cNvSpPr txBox="1"/>
          <p:nvPr/>
        </p:nvSpPr>
        <p:spPr>
          <a:xfrm>
            <a:off x="10737850" y="2301875"/>
            <a:ext cx="8686800" cy="7763151"/>
          </a:xfrm>
          <a:prstGeom prst="rect">
            <a:avLst/>
          </a:prstGeom>
          <a:noFill/>
        </p:spPr>
        <p:txBody>
          <a:bodyPr wrap="square">
            <a:spAutoFit/>
          </a:bodyPr>
          <a:lstStyle/>
          <a:p>
            <a:pPr algn="just" rtl="0" eaLnBrk="1" latinLnBrk="0" hangingPunct="1">
              <a:lnSpc>
                <a:spcPct val="80000"/>
              </a:lnSpc>
              <a:spcBef>
                <a:spcPts val="0"/>
              </a:spcBef>
              <a:spcAft>
                <a:spcPts val="0"/>
              </a:spcAft>
              <a:buClrTx/>
              <a:buSzPts val="1800"/>
            </a:pPr>
            <a:r>
              <a:rPr lang="es-ES" sz="4000" b="1" dirty="0">
                <a:solidFill>
                  <a:srgbClr val="818990"/>
                </a:solidFill>
                <a:latin typeface="Calibri" panose="020F0502020204030204" pitchFamily="34" charset="0"/>
              </a:rPr>
              <a:t>EJEMPLOS</a:t>
            </a:r>
          </a:p>
          <a:p>
            <a:pPr algn="just" rtl="0" eaLnBrk="1" fontAlgn="base" latinLnBrk="0" hangingPunct="1">
              <a:spcBef>
                <a:spcPts val="1000"/>
              </a:spcBef>
              <a:buClrTx/>
              <a:buSzPts val="1800"/>
            </a:pPr>
            <a:r>
              <a:rPr lang="es-ES" sz="4000" dirty="0">
                <a:solidFill>
                  <a:srgbClr val="818990"/>
                </a:solidFill>
                <a:latin typeface="Calibri" panose="020F0502020204030204" pitchFamily="34" charset="0"/>
              </a:rPr>
              <a:t>- Un cliente que efectúa compras por más de $300.000 al año es un cliente de tipo VIP, A estos clientes le aplicamos un descuento del 20%  en todas las compras que efectúe al año siguiente.</a:t>
            </a:r>
            <a:endParaRPr lang="es-CL" sz="4000" dirty="0">
              <a:solidFill>
                <a:srgbClr val="818990"/>
              </a:solidFill>
              <a:latin typeface="Calibri" panose="020F0502020204030204" pitchFamily="34" charset="0"/>
            </a:endParaRPr>
          </a:p>
          <a:p>
            <a:pPr marL="283464" indent="-283464" algn="just" rtl="0" eaLnBrk="1" fontAlgn="base" latinLnBrk="0" hangingPunct="1">
              <a:lnSpc>
                <a:spcPct val="80000"/>
              </a:lnSpc>
              <a:spcBef>
                <a:spcPts val="1000"/>
              </a:spcBef>
            </a:pPr>
            <a:endParaRPr lang="es-CL" sz="4000" dirty="0">
              <a:solidFill>
                <a:srgbClr val="818990"/>
              </a:solidFill>
              <a:latin typeface="Calibri" panose="020F0502020204030204" pitchFamily="34" charset="0"/>
            </a:endParaRPr>
          </a:p>
          <a:p>
            <a:pPr algn="just" rtl="0" eaLnBrk="1" fontAlgn="base" latinLnBrk="0" hangingPunct="1">
              <a:lnSpc>
                <a:spcPct val="80000"/>
              </a:lnSpc>
              <a:spcBef>
                <a:spcPts val="1000"/>
              </a:spcBef>
            </a:pPr>
            <a:r>
              <a:rPr lang="es-CL" sz="4000" dirty="0">
                <a:solidFill>
                  <a:srgbClr val="818990"/>
                </a:solidFill>
                <a:latin typeface="Calibri" panose="020F0502020204030204" pitchFamily="34" charset="0"/>
              </a:rPr>
              <a:t>- Un profesor debe dictar como mínimo una asignatura en el semestre.</a:t>
            </a:r>
          </a:p>
          <a:p>
            <a:pPr marL="283464" indent="-283464" algn="just" rtl="0" eaLnBrk="1" fontAlgn="base" latinLnBrk="0" hangingPunct="1">
              <a:lnSpc>
                <a:spcPct val="80000"/>
              </a:lnSpc>
              <a:spcBef>
                <a:spcPts val="1000"/>
              </a:spcBef>
            </a:pPr>
            <a:endParaRPr lang="es-CL" sz="4000" dirty="0">
              <a:solidFill>
                <a:srgbClr val="818990"/>
              </a:solidFill>
              <a:latin typeface="Calibri" panose="020F0502020204030204" pitchFamily="34" charset="0"/>
            </a:endParaRPr>
          </a:p>
          <a:p>
            <a:pPr algn="just" rtl="0" fontAlgn="base">
              <a:lnSpc>
                <a:spcPct val="80000"/>
              </a:lnSpc>
              <a:spcBef>
                <a:spcPts val="1000"/>
              </a:spcBef>
            </a:pPr>
            <a:r>
              <a:rPr lang="es-ES" sz="4000" dirty="0">
                <a:solidFill>
                  <a:srgbClr val="818990"/>
                </a:solidFill>
                <a:latin typeface="Calibri" panose="020F0502020204030204" pitchFamily="34" charset="0"/>
              </a:rPr>
              <a:t>- El promedio del alumno se calcula con las 5 notas del curso ponderadas al 20% cada una de ellas.</a:t>
            </a:r>
            <a:endParaRPr lang="es-CL" sz="4000" dirty="0">
              <a:solidFill>
                <a:srgbClr val="818990"/>
              </a:solidFill>
              <a:latin typeface="Calibri" panose="020F0502020204030204" pitchFamily="34" charset="0"/>
            </a:endParaRPr>
          </a:p>
        </p:txBody>
      </p:sp>
    </p:spTree>
    <p:extLst>
      <p:ext uri="{BB962C8B-B14F-4D97-AF65-F5344CB8AC3E}">
        <p14:creationId xmlns:p14="http://schemas.microsoft.com/office/powerpoint/2010/main" val="717399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6CA71-D537-E6E2-2296-86826A42CD5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EAD7A1DA-5E4E-03CE-DC86-1B06BFA9307E}"/>
              </a:ext>
            </a:extLst>
          </p:cNvPr>
          <p:cNvSpPr>
            <a:spLocks noGrp="1"/>
          </p:cNvSpPr>
          <p:nvPr>
            <p:ph type="body" sz="quarter" idx="10"/>
          </p:nvPr>
        </p:nvSpPr>
        <p:spPr/>
        <p:txBody>
          <a:bodyPr/>
          <a:lstStyle/>
          <a:p>
            <a:r>
              <a:rPr lang="es-MX" dirty="0"/>
              <a:t>REGLAS DE NEGOCIO – EJEMPLO</a:t>
            </a:r>
            <a:endParaRPr lang="es-CL" dirty="0"/>
          </a:p>
        </p:txBody>
      </p:sp>
      <p:sp>
        <p:nvSpPr>
          <p:cNvPr id="6" name="CuadroTexto 5">
            <a:extLst>
              <a:ext uri="{FF2B5EF4-FFF2-40B4-BE49-F238E27FC236}">
                <a16:creationId xmlns:a16="http://schemas.microsoft.com/office/drawing/2014/main" id="{AB1DDB13-1034-384B-D26A-6F1B4B7C8012}"/>
              </a:ext>
            </a:extLst>
          </p:cNvPr>
          <p:cNvSpPr txBox="1"/>
          <p:nvPr/>
        </p:nvSpPr>
        <p:spPr>
          <a:xfrm>
            <a:off x="718344" y="1663760"/>
            <a:ext cx="18630106" cy="5334794"/>
          </a:xfrm>
          <a:prstGeom prst="rect">
            <a:avLst/>
          </a:prstGeom>
          <a:noFill/>
        </p:spPr>
        <p:txBody>
          <a:bodyPr wrap="square">
            <a:spAutoFit/>
          </a:bodyPr>
          <a:lstStyle/>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Para la empresa de venta de productos digitales Soluciones Digitales es vital la atención al cliente. Para esto, cuenta con un sistema de registro de cotizaciones de sus clientes útil para dar soporte en tiempo y forma correcta. Estas cotizaciones son registros en papel. Para esto, registran la solicitud asignándoles un numero a cada una de ellas, nombre del cliente, fecha recepción y fecha estimada de entrega en 10 días más. </a:t>
            </a:r>
            <a:r>
              <a:rPr lang="es-ES" sz="3600" b="1" i="0" u="none" strike="noStrike" dirty="0">
                <a:solidFill>
                  <a:srgbClr val="00B050"/>
                </a:solidFill>
                <a:effectLst/>
                <a:latin typeface="Calibri" panose="020F0502020204030204" pitchFamily="34" charset="0"/>
              </a:rPr>
              <a:t>De acuerdo al monto anual de compras que han realizado, los clientes con categorizados como Premium, Vip y Gold.</a:t>
            </a:r>
          </a:p>
          <a:p>
            <a:pPr algn="just" rtl="0" fontAlgn="base">
              <a:spcBef>
                <a:spcPts val="1000"/>
              </a:spcBef>
              <a:spcAft>
                <a:spcPts val="0"/>
              </a:spcAft>
            </a:pPr>
            <a:r>
              <a:rPr lang="es-ES" sz="3600" b="1" i="0" u="none" strike="noStrike" dirty="0">
                <a:solidFill>
                  <a:srgbClr val="FF0000"/>
                </a:solidFill>
                <a:effectLst/>
                <a:latin typeface="Calibri" panose="020F0502020204030204" pitchFamily="34" charset="0"/>
              </a:rPr>
              <a:t>Para cada uno de los tipos de clientes existe un porcentaje de descuento adicional en cada compra que han realizado.</a:t>
            </a:r>
          </a:p>
          <a:p>
            <a:pPr algn="just" rtl="0" fontAlgn="base">
              <a:spcBef>
                <a:spcPts val="1000"/>
              </a:spcBef>
              <a:spcAft>
                <a:spcPts val="0"/>
              </a:spcAft>
            </a:pPr>
            <a:r>
              <a:rPr lang="es-ES" sz="3600" b="1" i="0" u="none" strike="noStrike" dirty="0">
                <a:solidFill>
                  <a:srgbClr val="B14EC4"/>
                </a:solidFill>
                <a:effectLst/>
                <a:latin typeface="Calibri" panose="020F0502020204030204" pitchFamily="34" charset="0"/>
              </a:rPr>
              <a:t>Existe un descuento adicional del 5% para los clientes de la tercera edad.</a:t>
            </a:r>
          </a:p>
        </p:txBody>
      </p:sp>
      <p:sp>
        <p:nvSpPr>
          <p:cNvPr id="28" name="Rectángulo 27">
            <a:extLst>
              <a:ext uri="{FF2B5EF4-FFF2-40B4-BE49-F238E27FC236}">
                <a16:creationId xmlns:a16="http://schemas.microsoft.com/office/drawing/2014/main" id="{734ED5A8-02A0-EE70-4358-25406327E345}"/>
              </a:ext>
            </a:extLst>
          </p:cNvPr>
          <p:cNvSpPr/>
          <p:nvPr/>
        </p:nvSpPr>
        <p:spPr>
          <a:xfrm>
            <a:off x="831850" y="7331075"/>
            <a:ext cx="2667000" cy="685800"/>
          </a:xfrm>
          <a:prstGeom prst="rect">
            <a:avLst/>
          </a:prstGeom>
          <a:noFill/>
          <a:ln w="7620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L">
              <a:solidFill>
                <a:srgbClr val="00B050"/>
              </a:solidFill>
            </a:endParaRPr>
          </a:p>
        </p:txBody>
      </p:sp>
      <p:sp>
        <p:nvSpPr>
          <p:cNvPr id="29" name="Rectángulo 28">
            <a:extLst>
              <a:ext uri="{FF2B5EF4-FFF2-40B4-BE49-F238E27FC236}">
                <a16:creationId xmlns:a16="http://schemas.microsoft.com/office/drawing/2014/main" id="{563B8E82-3182-594F-AB3F-E6ED51487998}"/>
              </a:ext>
            </a:extLst>
          </p:cNvPr>
          <p:cNvSpPr/>
          <p:nvPr/>
        </p:nvSpPr>
        <p:spPr>
          <a:xfrm>
            <a:off x="831850" y="8245475"/>
            <a:ext cx="2667000" cy="685800"/>
          </a:xfrm>
          <a:prstGeom prst="rect">
            <a:avLst/>
          </a:prstGeom>
          <a:noFill/>
          <a:ln w="76200">
            <a:solidFill>
              <a:srgbClr val="FF595A"/>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L">
              <a:solidFill>
                <a:srgbClr val="00B050"/>
              </a:solidFill>
            </a:endParaRPr>
          </a:p>
        </p:txBody>
      </p:sp>
      <p:sp>
        <p:nvSpPr>
          <p:cNvPr id="30" name="Rectángulo 29">
            <a:extLst>
              <a:ext uri="{FF2B5EF4-FFF2-40B4-BE49-F238E27FC236}">
                <a16:creationId xmlns:a16="http://schemas.microsoft.com/office/drawing/2014/main" id="{B5DBA17E-F6A0-94D4-539D-2D6541DBA140}"/>
              </a:ext>
            </a:extLst>
          </p:cNvPr>
          <p:cNvSpPr/>
          <p:nvPr/>
        </p:nvSpPr>
        <p:spPr>
          <a:xfrm>
            <a:off x="831850" y="9159875"/>
            <a:ext cx="2667000" cy="685800"/>
          </a:xfrm>
          <a:prstGeom prst="rect">
            <a:avLst/>
          </a:prstGeom>
          <a:noFill/>
          <a:ln w="76200">
            <a:solidFill>
              <a:srgbClr val="B14EC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L">
              <a:solidFill>
                <a:srgbClr val="00B050"/>
              </a:solidFill>
            </a:endParaRPr>
          </a:p>
        </p:txBody>
      </p:sp>
      <p:sp>
        <p:nvSpPr>
          <p:cNvPr id="31" name="CuadroTexto 30">
            <a:extLst>
              <a:ext uri="{FF2B5EF4-FFF2-40B4-BE49-F238E27FC236}">
                <a16:creationId xmlns:a16="http://schemas.microsoft.com/office/drawing/2014/main" id="{9BA95D7B-B04F-4654-3A91-CF0D5F8A157C}"/>
              </a:ext>
            </a:extLst>
          </p:cNvPr>
          <p:cNvSpPr txBox="1"/>
          <p:nvPr/>
        </p:nvSpPr>
        <p:spPr>
          <a:xfrm>
            <a:off x="3727450" y="7168258"/>
            <a:ext cx="15544800" cy="954107"/>
          </a:xfrm>
          <a:prstGeom prst="rect">
            <a:avLst/>
          </a:prstGeom>
          <a:noFill/>
        </p:spPr>
        <p:txBody>
          <a:bodyPr wrap="square">
            <a:spAutoFit/>
          </a:bodyPr>
          <a:lstStyle/>
          <a:p>
            <a:pPr algn="l" rtl="0">
              <a:spcBef>
                <a:spcPts val="1000"/>
              </a:spcBef>
              <a:spcAft>
                <a:spcPts val="0"/>
              </a:spcAft>
            </a:pPr>
            <a:r>
              <a:rPr lang="es-ES" sz="2800" dirty="0">
                <a:solidFill>
                  <a:srgbClr val="818990"/>
                </a:solidFill>
                <a:latin typeface="Calibri" panose="020F0502020204030204" pitchFamily="34" charset="0"/>
              </a:rPr>
              <a:t>Esta regla de negocio se debe representar en el modelo de datos ya que debe definir un atributo para almacenar el tipo de cliente que será cada uno de los clientes de la empresa.</a:t>
            </a:r>
            <a:endParaRPr lang="es-ES" sz="2800" i="0" u="none" strike="noStrike" dirty="0">
              <a:solidFill>
                <a:srgbClr val="818990"/>
              </a:solidFill>
              <a:effectLst/>
              <a:latin typeface="Calibri" panose="020F0502020204030204" pitchFamily="34" charset="0"/>
            </a:endParaRPr>
          </a:p>
        </p:txBody>
      </p:sp>
      <p:sp>
        <p:nvSpPr>
          <p:cNvPr id="32" name="CuadroTexto 31">
            <a:extLst>
              <a:ext uri="{FF2B5EF4-FFF2-40B4-BE49-F238E27FC236}">
                <a16:creationId xmlns:a16="http://schemas.microsoft.com/office/drawing/2014/main" id="{FFBCB4F9-C1DF-82AA-0BA6-5B390EF1B004}"/>
              </a:ext>
            </a:extLst>
          </p:cNvPr>
          <p:cNvSpPr txBox="1"/>
          <p:nvPr/>
        </p:nvSpPr>
        <p:spPr>
          <a:xfrm>
            <a:off x="3727450" y="8093075"/>
            <a:ext cx="15544800" cy="954107"/>
          </a:xfrm>
          <a:prstGeom prst="rect">
            <a:avLst/>
          </a:prstGeom>
          <a:noFill/>
        </p:spPr>
        <p:txBody>
          <a:bodyPr wrap="square">
            <a:spAutoFit/>
          </a:bodyPr>
          <a:lstStyle/>
          <a:p>
            <a:pPr algn="l" rtl="0">
              <a:spcBef>
                <a:spcPts val="1000"/>
              </a:spcBef>
              <a:spcAft>
                <a:spcPts val="0"/>
              </a:spcAft>
            </a:pPr>
            <a:r>
              <a:rPr lang="es-ES" sz="2800" dirty="0">
                <a:solidFill>
                  <a:srgbClr val="818990"/>
                </a:solidFill>
                <a:latin typeface="Calibri" panose="020F0502020204030204" pitchFamily="34" charset="0"/>
              </a:rPr>
              <a:t>Esta es una segunda regla de negocio que se debe considerar en el modelo ya que en alguna entidad se debe definir el atributo porcentaje de descuento para el tipo de cliente.</a:t>
            </a:r>
          </a:p>
        </p:txBody>
      </p:sp>
      <p:sp>
        <p:nvSpPr>
          <p:cNvPr id="33" name="CuadroTexto 32">
            <a:extLst>
              <a:ext uri="{FF2B5EF4-FFF2-40B4-BE49-F238E27FC236}">
                <a16:creationId xmlns:a16="http://schemas.microsoft.com/office/drawing/2014/main" id="{CD1A9CE0-F681-1B02-B75D-83494FAA457F}"/>
              </a:ext>
            </a:extLst>
          </p:cNvPr>
          <p:cNvSpPr txBox="1"/>
          <p:nvPr/>
        </p:nvSpPr>
        <p:spPr>
          <a:xfrm>
            <a:off x="3727450" y="9083675"/>
            <a:ext cx="15087600" cy="954107"/>
          </a:xfrm>
          <a:prstGeom prst="rect">
            <a:avLst/>
          </a:prstGeom>
          <a:noFill/>
        </p:spPr>
        <p:txBody>
          <a:bodyPr wrap="square">
            <a:spAutoFit/>
          </a:bodyPr>
          <a:lstStyle/>
          <a:p>
            <a:pPr algn="l" rtl="0">
              <a:spcBef>
                <a:spcPts val="1000"/>
              </a:spcBef>
              <a:spcAft>
                <a:spcPts val="0"/>
              </a:spcAft>
            </a:pPr>
            <a:r>
              <a:rPr lang="es-ES" sz="2800" dirty="0">
                <a:solidFill>
                  <a:srgbClr val="818990"/>
                </a:solidFill>
                <a:latin typeface="Calibri" panose="020F0502020204030204" pitchFamily="34" charset="0"/>
              </a:rPr>
              <a:t>Esta regla de negocio no se debe considerar en el modelo ya que es una validación de la aplicación que se construya.</a:t>
            </a:r>
          </a:p>
        </p:txBody>
      </p:sp>
    </p:spTree>
    <p:extLst>
      <p:ext uri="{BB962C8B-B14F-4D97-AF65-F5344CB8AC3E}">
        <p14:creationId xmlns:p14="http://schemas.microsoft.com/office/powerpoint/2010/main" val="486148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222250" y="7407275"/>
            <a:ext cx="10393528" cy="1015663"/>
          </a:xfrm>
        </p:spPr>
        <p:txBody>
          <a:bodyPr/>
          <a:lstStyle/>
          <a:p>
            <a:r>
              <a:rPr lang="es-CL" sz="6600" dirty="0"/>
              <a:t>ENTIDADES</a:t>
            </a:r>
          </a:p>
        </p:txBody>
      </p:sp>
      <p:sp>
        <p:nvSpPr>
          <p:cNvPr id="3" name="Título 1">
            <a:extLst>
              <a:ext uri="{FF2B5EF4-FFF2-40B4-BE49-F238E27FC236}">
                <a16:creationId xmlns:a16="http://schemas.microsoft.com/office/drawing/2014/main" id="{E4D7CDB3-E365-8648-9D80-6AFDB724300B}"/>
              </a:ext>
            </a:extLst>
          </p:cNvPr>
          <p:cNvSpPr txBox="1">
            <a:spLocks/>
          </p:cNvSpPr>
          <p:nvPr/>
        </p:nvSpPr>
        <p:spPr>
          <a:xfrm>
            <a:off x="9089872" y="6188075"/>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373524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sz="4800" dirty="0"/>
              <a:t>ENTIDADES</a:t>
            </a:r>
            <a:endParaRPr lang="es-CL" dirty="0"/>
          </a:p>
        </p:txBody>
      </p:sp>
      <p:sp>
        <p:nvSpPr>
          <p:cNvPr id="4" name="CuadroTexto 3">
            <a:extLst>
              <a:ext uri="{FF2B5EF4-FFF2-40B4-BE49-F238E27FC236}">
                <a16:creationId xmlns:a16="http://schemas.microsoft.com/office/drawing/2014/main" id="{49CAB5BC-5A14-4039-B5DE-FC66EF176185}"/>
              </a:ext>
            </a:extLst>
          </p:cNvPr>
          <p:cNvSpPr txBox="1"/>
          <p:nvPr/>
        </p:nvSpPr>
        <p:spPr>
          <a:xfrm>
            <a:off x="1060450" y="2104271"/>
            <a:ext cx="7504906" cy="8351004"/>
          </a:xfrm>
          <a:prstGeom prst="rect">
            <a:avLst/>
          </a:prstGeom>
          <a:noFill/>
        </p:spPr>
        <p:txBody>
          <a:bodyPr wrap="square">
            <a:spAutoFit/>
          </a:bodyPr>
          <a:lstStyle/>
          <a:p>
            <a:pPr algn="just" rtl="0">
              <a:spcBef>
                <a:spcPts val="1000"/>
              </a:spcBef>
              <a:spcAft>
                <a:spcPts val="0"/>
              </a:spcAft>
            </a:pPr>
            <a:r>
              <a:rPr lang="es-ES" sz="4000" b="0" i="0" u="none" strike="noStrike" dirty="0">
                <a:solidFill>
                  <a:srgbClr val="818990"/>
                </a:solidFill>
                <a:effectLst/>
                <a:latin typeface="Calibri" panose="020F0502020204030204" pitchFamily="34" charset="0"/>
              </a:rPr>
              <a:t>Entidad es una cosa, objeto o concepto</a:t>
            </a:r>
            <a:r>
              <a:rPr lang="es-ES" sz="4000" dirty="0">
                <a:solidFill>
                  <a:srgbClr val="818990"/>
                </a:solidFill>
                <a:latin typeface="Calibri" panose="020F0502020204030204" pitchFamily="34" charset="0"/>
              </a:rPr>
              <a:t> </a:t>
            </a:r>
            <a:r>
              <a:rPr lang="es-ES" sz="4000" b="0" i="0" u="none" strike="noStrike" dirty="0">
                <a:solidFill>
                  <a:srgbClr val="818990"/>
                </a:solidFill>
                <a:effectLst/>
                <a:latin typeface="Calibri" panose="020F0502020204030204" pitchFamily="34" charset="0"/>
              </a:rPr>
              <a:t>del mundo real con existencia independiente, es decir, se diferencia únicamente de otro objeto o cosa, incluso siendo del mismo tipo, o una misma entidad. </a:t>
            </a:r>
          </a:p>
          <a:p>
            <a:pPr algn="just" rtl="0">
              <a:spcBef>
                <a:spcPts val="1000"/>
              </a:spcBef>
              <a:spcAft>
                <a:spcPts val="0"/>
              </a:spcAft>
            </a:pPr>
            <a:r>
              <a:rPr lang="es-ES" sz="4000" b="0" i="0" u="none" strike="noStrike" dirty="0">
                <a:solidFill>
                  <a:srgbClr val="818990"/>
                </a:solidFill>
                <a:effectLst/>
                <a:latin typeface="Calibri" panose="020F0502020204030204" pitchFamily="34" charset="0"/>
              </a:rPr>
              <a:t>Los objetos (reales o abstractos) y conceptos que aparecen en la vida real, corresponden a una entidad. </a:t>
            </a:r>
          </a:p>
          <a:p>
            <a:pPr algn="just" rtl="0">
              <a:spcBef>
                <a:spcPts val="1000"/>
              </a:spcBef>
              <a:spcAft>
                <a:spcPts val="0"/>
              </a:spcAft>
            </a:pPr>
            <a:r>
              <a:rPr lang="es-ES" sz="4000" dirty="0">
                <a:solidFill>
                  <a:srgbClr val="818990"/>
                </a:solidFill>
                <a:latin typeface="Calibri" panose="020F0502020204030204" pitchFamily="34" charset="0"/>
              </a:rPr>
              <a:t>Estas entidades pueden ser tangibles (pueden tocarse) o intangibles (no existen físicamente y no pueden tocarse).</a:t>
            </a:r>
            <a:endParaRPr lang="es-ES" sz="4000" b="0" i="0" u="none" strike="noStrike" dirty="0">
              <a:solidFill>
                <a:srgbClr val="818990"/>
              </a:solidFill>
              <a:effectLst/>
              <a:latin typeface="Calibri" panose="020F0502020204030204" pitchFamily="34" charset="0"/>
            </a:endParaRPr>
          </a:p>
        </p:txBody>
      </p:sp>
      <p:sp>
        <p:nvSpPr>
          <p:cNvPr id="3" name="CuadroTexto 2">
            <a:extLst>
              <a:ext uri="{FF2B5EF4-FFF2-40B4-BE49-F238E27FC236}">
                <a16:creationId xmlns:a16="http://schemas.microsoft.com/office/drawing/2014/main" id="{8DF6F202-89CF-B2D3-79B7-B6009ED978CE}"/>
              </a:ext>
            </a:extLst>
          </p:cNvPr>
          <p:cNvSpPr txBox="1"/>
          <p:nvPr/>
        </p:nvSpPr>
        <p:spPr>
          <a:xfrm>
            <a:off x="9975850" y="2835275"/>
            <a:ext cx="3886200" cy="6406882"/>
          </a:xfrm>
          <a:prstGeom prst="rect">
            <a:avLst/>
          </a:prstGeom>
          <a:noFill/>
        </p:spPr>
        <p:txBody>
          <a:bodyPr wrap="square">
            <a:spAutoFit/>
          </a:bodyPr>
          <a:lstStyle/>
          <a:p>
            <a:pPr algn="just" rtl="0">
              <a:spcBef>
                <a:spcPts val="1000"/>
              </a:spcBef>
              <a:spcAft>
                <a:spcPts val="0"/>
              </a:spcAft>
            </a:pPr>
            <a:r>
              <a:rPr lang="es-ES" sz="4400" b="1" i="0" u="none" strike="noStrike" dirty="0">
                <a:solidFill>
                  <a:srgbClr val="818990"/>
                </a:solidFill>
                <a:effectLst/>
                <a:latin typeface="Calibri" panose="020F0502020204030204" pitchFamily="34" charset="0"/>
              </a:rPr>
              <a:t>TANGIBLES</a:t>
            </a:r>
          </a:p>
          <a:p>
            <a:pPr algn="just" rtl="0">
              <a:spcBef>
                <a:spcPts val="1000"/>
              </a:spcBef>
              <a:spcAft>
                <a:spcPts val="0"/>
              </a:spcAft>
            </a:pPr>
            <a:r>
              <a:rPr lang="es-ES" sz="4400" b="0" i="0" u="none" strike="noStrike" dirty="0">
                <a:solidFill>
                  <a:srgbClr val="818990"/>
                </a:solidFill>
                <a:effectLst/>
                <a:latin typeface="Calibri" panose="020F0502020204030204" pitchFamily="34" charset="0"/>
              </a:rPr>
              <a:t>- Persona </a:t>
            </a:r>
          </a:p>
          <a:p>
            <a:pPr algn="just" rtl="0">
              <a:spcBef>
                <a:spcPts val="1000"/>
              </a:spcBef>
              <a:spcAft>
                <a:spcPts val="0"/>
              </a:spcAft>
            </a:pPr>
            <a:r>
              <a:rPr lang="es-ES" sz="4400" dirty="0">
                <a:solidFill>
                  <a:srgbClr val="818990"/>
                </a:solidFill>
                <a:latin typeface="Calibri" panose="020F0502020204030204" pitchFamily="34" charset="0"/>
              </a:rPr>
              <a:t>- Vehículo</a:t>
            </a:r>
          </a:p>
          <a:p>
            <a:pPr algn="just" rtl="0">
              <a:spcBef>
                <a:spcPts val="1000"/>
              </a:spcBef>
              <a:spcAft>
                <a:spcPts val="0"/>
              </a:spcAft>
            </a:pPr>
            <a:r>
              <a:rPr lang="es-ES" sz="4400" b="0" i="0" u="none" strike="noStrike" dirty="0">
                <a:solidFill>
                  <a:srgbClr val="818990"/>
                </a:solidFill>
                <a:effectLst/>
                <a:latin typeface="Calibri" panose="020F0502020204030204" pitchFamily="34" charset="0"/>
              </a:rPr>
              <a:t>- Computador</a:t>
            </a:r>
          </a:p>
          <a:p>
            <a:pPr algn="just" rtl="0">
              <a:spcBef>
                <a:spcPts val="1000"/>
              </a:spcBef>
              <a:spcAft>
                <a:spcPts val="0"/>
              </a:spcAft>
            </a:pPr>
            <a:r>
              <a:rPr lang="es-ES" sz="4400" dirty="0">
                <a:solidFill>
                  <a:srgbClr val="818990"/>
                </a:solidFill>
                <a:latin typeface="Calibri" panose="020F0502020204030204" pitchFamily="34" charset="0"/>
              </a:rPr>
              <a:t>- Dispositivo</a:t>
            </a:r>
          </a:p>
          <a:p>
            <a:pPr algn="just" rtl="0">
              <a:spcBef>
                <a:spcPts val="1000"/>
              </a:spcBef>
              <a:spcAft>
                <a:spcPts val="0"/>
              </a:spcAft>
            </a:pPr>
            <a:r>
              <a:rPr lang="es-ES" sz="4400" b="0" i="0" u="none" strike="noStrike" dirty="0">
                <a:solidFill>
                  <a:srgbClr val="818990"/>
                </a:solidFill>
                <a:effectLst/>
                <a:latin typeface="Calibri" panose="020F0502020204030204" pitchFamily="34" charset="0"/>
              </a:rPr>
              <a:t>- Producto</a:t>
            </a:r>
          </a:p>
          <a:p>
            <a:pPr algn="just" rtl="0">
              <a:spcBef>
                <a:spcPts val="1000"/>
              </a:spcBef>
              <a:spcAft>
                <a:spcPts val="0"/>
              </a:spcAft>
            </a:pPr>
            <a:r>
              <a:rPr lang="es-ES" sz="4400" dirty="0">
                <a:solidFill>
                  <a:srgbClr val="818990"/>
                </a:solidFill>
                <a:latin typeface="Calibri" panose="020F0502020204030204" pitchFamily="34" charset="0"/>
              </a:rPr>
              <a:t>- Docente</a:t>
            </a:r>
          </a:p>
          <a:p>
            <a:pPr algn="just" rtl="0">
              <a:spcBef>
                <a:spcPts val="1000"/>
              </a:spcBef>
              <a:spcAft>
                <a:spcPts val="0"/>
              </a:spcAft>
            </a:pPr>
            <a:r>
              <a:rPr lang="es-ES" sz="4400" b="0" i="0" u="none" strike="noStrike" dirty="0">
                <a:solidFill>
                  <a:srgbClr val="818990"/>
                </a:solidFill>
                <a:effectLst/>
                <a:latin typeface="Calibri" panose="020F0502020204030204" pitchFamily="34" charset="0"/>
              </a:rPr>
              <a:t>- Factura</a:t>
            </a:r>
          </a:p>
        </p:txBody>
      </p:sp>
      <p:sp>
        <p:nvSpPr>
          <p:cNvPr id="6" name="CuadroTexto 5">
            <a:extLst>
              <a:ext uri="{FF2B5EF4-FFF2-40B4-BE49-F238E27FC236}">
                <a16:creationId xmlns:a16="http://schemas.microsoft.com/office/drawing/2014/main" id="{DD21ECA0-192D-F620-92EC-D889A72B8317}"/>
              </a:ext>
            </a:extLst>
          </p:cNvPr>
          <p:cNvSpPr txBox="1"/>
          <p:nvPr/>
        </p:nvSpPr>
        <p:spPr>
          <a:xfrm>
            <a:off x="14319250" y="2835275"/>
            <a:ext cx="5105400" cy="6406882"/>
          </a:xfrm>
          <a:prstGeom prst="rect">
            <a:avLst/>
          </a:prstGeom>
          <a:noFill/>
        </p:spPr>
        <p:txBody>
          <a:bodyPr wrap="square">
            <a:spAutoFit/>
          </a:bodyPr>
          <a:lstStyle/>
          <a:p>
            <a:pPr algn="just" rtl="0">
              <a:spcBef>
                <a:spcPts val="1000"/>
              </a:spcBef>
              <a:spcAft>
                <a:spcPts val="0"/>
              </a:spcAft>
            </a:pPr>
            <a:r>
              <a:rPr lang="es-ES" sz="4400" b="1" i="0" u="none" strike="noStrike" dirty="0">
                <a:solidFill>
                  <a:srgbClr val="818990"/>
                </a:solidFill>
                <a:effectLst/>
                <a:latin typeface="Calibri" panose="020F0502020204030204" pitchFamily="34" charset="0"/>
              </a:rPr>
              <a:t>INTANGIBLES</a:t>
            </a:r>
          </a:p>
          <a:p>
            <a:pPr algn="just" rtl="0">
              <a:spcBef>
                <a:spcPts val="1000"/>
              </a:spcBef>
              <a:spcAft>
                <a:spcPts val="0"/>
              </a:spcAft>
            </a:pPr>
            <a:r>
              <a:rPr lang="es-ES" sz="4400" b="0" i="0" u="none" strike="noStrike" dirty="0">
                <a:solidFill>
                  <a:srgbClr val="818990"/>
                </a:solidFill>
                <a:effectLst/>
                <a:latin typeface="Calibri" panose="020F0502020204030204" pitchFamily="34" charset="0"/>
              </a:rPr>
              <a:t>- Marca </a:t>
            </a:r>
          </a:p>
          <a:p>
            <a:pPr algn="just" rtl="0">
              <a:spcBef>
                <a:spcPts val="1000"/>
              </a:spcBef>
              <a:spcAft>
                <a:spcPts val="0"/>
              </a:spcAft>
            </a:pPr>
            <a:r>
              <a:rPr lang="es-ES" sz="4400" dirty="0">
                <a:solidFill>
                  <a:srgbClr val="818990"/>
                </a:solidFill>
                <a:latin typeface="Calibri" panose="020F0502020204030204" pitchFamily="34" charset="0"/>
              </a:rPr>
              <a:t>- Color</a:t>
            </a:r>
          </a:p>
          <a:p>
            <a:pPr algn="just" rtl="0">
              <a:spcBef>
                <a:spcPts val="1000"/>
              </a:spcBef>
              <a:spcAft>
                <a:spcPts val="0"/>
              </a:spcAft>
            </a:pPr>
            <a:r>
              <a:rPr lang="es-ES" sz="4400" b="0" i="0" u="none" strike="noStrike" dirty="0">
                <a:solidFill>
                  <a:srgbClr val="818990"/>
                </a:solidFill>
                <a:effectLst/>
                <a:latin typeface="Calibri" panose="020F0502020204030204" pitchFamily="34" charset="0"/>
              </a:rPr>
              <a:t>- Calificación</a:t>
            </a:r>
          </a:p>
          <a:p>
            <a:pPr algn="just" rtl="0">
              <a:spcBef>
                <a:spcPts val="1000"/>
              </a:spcBef>
              <a:spcAft>
                <a:spcPts val="0"/>
              </a:spcAft>
            </a:pPr>
            <a:r>
              <a:rPr lang="es-ES" sz="4400" dirty="0">
                <a:solidFill>
                  <a:srgbClr val="818990"/>
                </a:solidFill>
                <a:latin typeface="Calibri" panose="020F0502020204030204" pitchFamily="34" charset="0"/>
              </a:rPr>
              <a:t>- Venta</a:t>
            </a:r>
          </a:p>
          <a:p>
            <a:pPr algn="just" rtl="0">
              <a:spcBef>
                <a:spcPts val="1000"/>
              </a:spcBef>
              <a:spcAft>
                <a:spcPts val="0"/>
              </a:spcAft>
            </a:pPr>
            <a:r>
              <a:rPr lang="es-ES" sz="4400" b="0" i="0" u="none" strike="noStrike" dirty="0">
                <a:solidFill>
                  <a:srgbClr val="818990"/>
                </a:solidFill>
                <a:effectLst/>
                <a:latin typeface="Calibri" panose="020F0502020204030204" pitchFamily="34" charset="0"/>
              </a:rPr>
              <a:t>- Seguro de vida</a:t>
            </a:r>
          </a:p>
          <a:p>
            <a:pPr algn="just" rtl="0">
              <a:spcBef>
                <a:spcPts val="1000"/>
              </a:spcBef>
              <a:spcAft>
                <a:spcPts val="0"/>
              </a:spcAft>
            </a:pPr>
            <a:r>
              <a:rPr lang="es-ES" sz="4400" dirty="0">
                <a:solidFill>
                  <a:srgbClr val="818990"/>
                </a:solidFill>
                <a:latin typeface="Calibri" panose="020F0502020204030204" pitchFamily="34" charset="0"/>
              </a:rPr>
              <a:t>- Equipo de trabajo</a:t>
            </a:r>
          </a:p>
          <a:p>
            <a:pPr algn="just" rtl="0">
              <a:spcBef>
                <a:spcPts val="1000"/>
              </a:spcBef>
              <a:spcAft>
                <a:spcPts val="0"/>
              </a:spcAft>
            </a:pPr>
            <a:r>
              <a:rPr lang="es-ES" sz="4400" b="0" i="0" u="none" strike="noStrike" dirty="0">
                <a:solidFill>
                  <a:srgbClr val="818990"/>
                </a:solidFill>
                <a:effectLst/>
                <a:latin typeface="Calibri" panose="020F0502020204030204" pitchFamily="34" charset="0"/>
              </a:rPr>
              <a:t>- Clase</a:t>
            </a:r>
          </a:p>
        </p:txBody>
      </p:sp>
    </p:spTree>
    <p:extLst>
      <p:ext uri="{BB962C8B-B14F-4D97-AF65-F5344CB8AC3E}">
        <p14:creationId xmlns:p14="http://schemas.microsoft.com/office/powerpoint/2010/main" val="2545891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sz="4800" dirty="0"/>
              <a:t>RECONOCIENDO ENTIDADES</a:t>
            </a:r>
            <a:endParaRPr lang="es-CL" dirty="0"/>
          </a:p>
        </p:txBody>
      </p:sp>
      <p:sp>
        <p:nvSpPr>
          <p:cNvPr id="4" name="CuadroTexto 3">
            <a:extLst>
              <a:ext uri="{FF2B5EF4-FFF2-40B4-BE49-F238E27FC236}">
                <a16:creationId xmlns:a16="http://schemas.microsoft.com/office/drawing/2014/main" id="{49CAB5BC-5A14-4039-B5DE-FC66EF176185}"/>
              </a:ext>
            </a:extLst>
          </p:cNvPr>
          <p:cNvSpPr txBox="1"/>
          <p:nvPr/>
        </p:nvSpPr>
        <p:spPr>
          <a:xfrm>
            <a:off x="3080544" y="2210237"/>
            <a:ext cx="13943012" cy="5273238"/>
          </a:xfrm>
          <a:prstGeom prst="rect">
            <a:avLst/>
          </a:prstGeom>
          <a:noFill/>
        </p:spPr>
        <p:txBody>
          <a:bodyPr wrap="square">
            <a:spAutoFit/>
          </a:bodyPr>
          <a:lstStyle/>
          <a:p>
            <a:pPr algn="just" rtl="0">
              <a:spcBef>
                <a:spcPts val="1000"/>
              </a:spcBef>
              <a:spcAft>
                <a:spcPts val="0"/>
              </a:spcAft>
            </a:pPr>
            <a:r>
              <a:rPr lang="es-ES" sz="4000" b="0" i="0" u="none" strike="noStrike" dirty="0">
                <a:solidFill>
                  <a:srgbClr val="818990"/>
                </a:solidFill>
                <a:effectLst/>
                <a:latin typeface="Calibri" panose="020F0502020204030204" pitchFamily="34" charset="0"/>
              </a:rPr>
              <a:t>Una buena forma de poder identificar y definir diversas entidades es pensar en sustantivos. Por ejemplo: cliente, producto, marca de producto, vendedor, tienda.</a:t>
            </a:r>
          </a:p>
          <a:p>
            <a:pPr algn="just" rtl="0">
              <a:spcBef>
                <a:spcPts val="1000"/>
              </a:spcBef>
              <a:spcAft>
                <a:spcPts val="0"/>
              </a:spcAft>
            </a:pPr>
            <a:r>
              <a:rPr lang="es-ES" sz="4000" b="0" i="0" u="none" strike="noStrike" dirty="0">
                <a:solidFill>
                  <a:srgbClr val="818990"/>
                </a:solidFill>
                <a:effectLst/>
                <a:latin typeface="Calibri" panose="020F0502020204030204" pitchFamily="34" charset="0"/>
              </a:rPr>
              <a:t>La representación de Entidad se verá como un rectángulo con puntas redondeadas, con el nombre de la entidad en su interior, el cual debe escribirse en mayúscula y en singular.</a:t>
            </a:r>
          </a:p>
          <a:p>
            <a:pPr algn="just" rtl="0">
              <a:spcBef>
                <a:spcPts val="1000"/>
              </a:spcBef>
              <a:spcAft>
                <a:spcPts val="0"/>
              </a:spcAft>
            </a:pPr>
            <a:r>
              <a:rPr lang="es-ES" sz="4000" b="0" i="0" u="none" strike="noStrike" dirty="0">
                <a:solidFill>
                  <a:srgbClr val="818990"/>
                </a:solidFill>
                <a:effectLst/>
                <a:latin typeface="Calibri" panose="020F0502020204030204" pitchFamily="34" charset="0"/>
              </a:rPr>
              <a:t>Para el caso del ejemplo de la compañía de seguros dos de las entidades son auto y persona, las que se representan así:</a:t>
            </a:r>
          </a:p>
        </p:txBody>
      </p:sp>
      <p:pic>
        <p:nvPicPr>
          <p:cNvPr id="1026" name="Picture 2">
            <a:extLst>
              <a:ext uri="{FF2B5EF4-FFF2-40B4-BE49-F238E27FC236}">
                <a16:creationId xmlns:a16="http://schemas.microsoft.com/office/drawing/2014/main" id="{CB016EFF-28D8-1281-7BFE-30F788F552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0451" y="7648378"/>
            <a:ext cx="9443197"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151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4AB15F6E-4DD6-0647-EF57-2FCC3CD6F3C0}"/>
              </a:ext>
            </a:extLst>
          </p:cNvPr>
          <p:cNvSpPr txBox="1">
            <a:spLocks/>
          </p:cNvSpPr>
          <p:nvPr/>
        </p:nvSpPr>
        <p:spPr>
          <a:xfrm>
            <a:off x="7461250" y="7225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05</a:t>
            </a:r>
          </a:p>
        </p:txBody>
      </p:sp>
      <p:sp>
        <p:nvSpPr>
          <p:cNvPr id="7" name="Título 1">
            <a:extLst>
              <a:ext uri="{FF2B5EF4-FFF2-40B4-BE49-F238E27FC236}">
                <a16:creationId xmlns:a16="http://schemas.microsoft.com/office/drawing/2014/main" id="{4F48FFCB-5E44-EDEE-2659-BCECB169E915}"/>
              </a:ext>
            </a:extLst>
          </p:cNvPr>
          <p:cNvSpPr>
            <a:spLocks noGrp="1"/>
          </p:cNvSpPr>
          <p:nvPr>
            <p:ph type="title"/>
          </p:nvPr>
        </p:nvSpPr>
        <p:spPr>
          <a:xfrm>
            <a:off x="7537450" y="8397875"/>
            <a:ext cx="9296400" cy="1015663"/>
          </a:xfrm>
        </p:spPr>
        <p:txBody>
          <a:bodyPr/>
          <a:lstStyle/>
          <a:p>
            <a:pPr algn="l"/>
            <a:r>
              <a:rPr lang="es-CL" sz="6600" dirty="0"/>
              <a:t>TIPOS DE ENTIDADES</a:t>
            </a:r>
          </a:p>
        </p:txBody>
      </p:sp>
    </p:spTree>
    <p:extLst>
      <p:ext uri="{BB962C8B-B14F-4D97-AF65-F5344CB8AC3E}">
        <p14:creationId xmlns:p14="http://schemas.microsoft.com/office/powerpoint/2010/main" val="1757146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TIPOS DE ENTIDADES</a:t>
            </a:r>
            <a:endParaRPr lang="es-CL" dirty="0"/>
          </a:p>
        </p:txBody>
      </p:sp>
      <p:grpSp>
        <p:nvGrpSpPr>
          <p:cNvPr id="9" name="Grupo 8">
            <a:extLst>
              <a:ext uri="{FF2B5EF4-FFF2-40B4-BE49-F238E27FC236}">
                <a16:creationId xmlns:a16="http://schemas.microsoft.com/office/drawing/2014/main" id="{9E0BC4F8-E988-E055-7374-2E283DA8AE42}"/>
              </a:ext>
            </a:extLst>
          </p:cNvPr>
          <p:cNvGrpSpPr>
            <a:grpSpLocks noChangeAspect="1"/>
          </p:cNvGrpSpPr>
          <p:nvPr/>
        </p:nvGrpSpPr>
        <p:grpSpPr>
          <a:xfrm>
            <a:off x="3665289" y="1664613"/>
            <a:ext cx="12773523" cy="8333462"/>
            <a:chOff x="3068641" y="1692276"/>
            <a:chExt cx="14015914" cy="9143999"/>
          </a:xfrm>
        </p:grpSpPr>
        <p:pic>
          <p:nvPicPr>
            <p:cNvPr id="4" name="Imagen 3">
              <a:extLst>
                <a:ext uri="{FF2B5EF4-FFF2-40B4-BE49-F238E27FC236}">
                  <a16:creationId xmlns:a16="http://schemas.microsoft.com/office/drawing/2014/main" id="{D51586D1-F60C-D934-2D78-BE85F0189F6B}"/>
                </a:ext>
              </a:extLst>
            </p:cNvPr>
            <p:cNvPicPr>
              <a:picLocks noChangeAspect="1"/>
            </p:cNvPicPr>
            <p:nvPr/>
          </p:nvPicPr>
          <p:blipFill rotWithShape="1">
            <a:blip r:embed="rId2"/>
            <a:srcRect l="1608" t="543" r="889" b="8248"/>
            <a:stretch/>
          </p:blipFill>
          <p:spPr>
            <a:xfrm>
              <a:off x="3068641" y="1692276"/>
              <a:ext cx="14015914" cy="8458200"/>
            </a:xfrm>
            <a:prstGeom prst="rect">
              <a:avLst/>
            </a:prstGeom>
          </p:spPr>
        </p:pic>
        <p:pic>
          <p:nvPicPr>
            <p:cNvPr id="8" name="Imagen 7">
              <a:extLst>
                <a:ext uri="{FF2B5EF4-FFF2-40B4-BE49-F238E27FC236}">
                  <a16:creationId xmlns:a16="http://schemas.microsoft.com/office/drawing/2014/main" id="{83FE4BEA-3CE7-C610-8B8A-6300F199DAFE}"/>
                </a:ext>
              </a:extLst>
            </p:cNvPr>
            <p:cNvPicPr>
              <a:picLocks noChangeAspect="1"/>
            </p:cNvPicPr>
            <p:nvPr/>
          </p:nvPicPr>
          <p:blipFill rotWithShape="1">
            <a:blip r:embed="rId2"/>
            <a:srcRect l="25445" t="91752" r="10583" b="853"/>
            <a:stretch/>
          </p:blipFill>
          <p:spPr>
            <a:xfrm>
              <a:off x="6495120" y="10150476"/>
              <a:ext cx="9195729" cy="685799"/>
            </a:xfrm>
            <a:prstGeom prst="rect">
              <a:avLst/>
            </a:prstGeom>
          </p:spPr>
        </p:pic>
      </p:grpSp>
      <p:sp>
        <p:nvSpPr>
          <p:cNvPr id="10" name="CuadroTexto 9">
            <a:extLst>
              <a:ext uri="{FF2B5EF4-FFF2-40B4-BE49-F238E27FC236}">
                <a16:creationId xmlns:a16="http://schemas.microsoft.com/office/drawing/2014/main" id="{2808B76C-7B20-7732-A747-05A563C6F0D0}"/>
              </a:ext>
            </a:extLst>
          </p:cNvPr>
          <p:cNvSpPr txBox="1"/>
          <p:nvPr/>
        </p:nvSpPr>
        <p:spPr>
          <a:xfrm>
            <a:off x="16376650" y="2149475"/>
            <a:ext cx="3276600" cy="8104783"/>
          </a:xfrm>
          <a:prstGeom prst="rect">
            <a:avLst/>
          </a:prstGeom>
          <a:noFill/>
        </p:spPr>
        <p:txBody>
          <a:bodyPr wrap="square">
            <a:spAutoFit/>
          </a:bodyPr>
          <a:lstStyle/>
          <a:p>
            <a:pPr algn="just" rtl="0" fontAlgn="base">
              <a:spcBef>
                <a:spcPts val="1000"/>
              </a:spcBef>
              <a:spcAft>
                <a:spcPts val="0"/>
              </a:spcAft>
            </a:pPr>
            <a:r>
              <a:rPr lang="es-ES" sz="2400" b="1" i="0" u="none" strike="noStrike" dirty="0">
                <a:solidFill>
                  <a:srgbClr val="818990"/>
                </a:solidFill>
                <a:effectLst/>
                <a:latin typeface="Calibri" panose="020F0502020204030204" pitchFamily="34" charset="0"/>
              </a:rPr>
              <a:t>Entidad Débil</a:t>
            </a:r>
            <a:endParaRPr lang="es-ES" sz="2400" i="0" u="none" strike="noStrike" dirty="0">
              <a:solidFill>
                <a:srgbClr val="818990"/>
              </a:solidFill>
              <a:effectLst/>
              <a:latin typeface="Calibri" panose="020F0502020204030204" pitchFamily="34" charset="0"/>
            </a:endParaRPr>
          </a:p>
          <a:p>
            <a:pPr algn="just" rtl="0" fontAlgn="base">
              <a:spcBef>
                <a:spcPts val="1000"/>
              </a:spcBef>
              <a:spcAft>
                <a:spcPts val="0"/>
              </a:spcAft>
            </a:pPr>
            <a:r>
              <a:rPr lang="es-ES" sz="2400" i="0" u="none" strike="noStrike" dirty="0">
                <a:solidFill>
                  <a:srgbClr val="818990"/>
                </a:solidFill>
                <a:effectLst/>
                <a:latin typeface="Calibri" panose="020F0502020204030204" pitchFamily="34" charset="0"/>
              </a:rPr>
              <a:t>- No tiene suficientes atributos que permitan identificar en forma única cada instancia de la Entidad (Relación con Identificación). En este caso, la Entidad Débil necesita que la Entidad Fuerte le "preste" sus atributos identificadores para que cada Instancia se pueda identificar complemente.</a:t>
            </a:r>
          </a:p>
          <a:p>
            <a:pPr algn="just" rtl="0" fontAlgn="base">
              <a:spcBef>
                <a:spcPts val="1000"/>
              </a:spcBef>
              <a:spcAft>
                <a:spcPts val="0"/>
              </a:spcAft>
            </a:pPr>
            <a:r>
              <a:rPr lang="es-ES" sz="2400" i="0" u="none" strike="noStrike" dirty="0">
                <a:solidFill>
                  <a:srgbClr val="818990"/>
                </a:solidFill>
                <a:effectLst/>
                <a:latin typeface="Calibri" panose="020F0502020204030204" pitchFamily="34" charset="0"/>
              </a:rPr>
              <a:t>- Cada Instancia de la Entidad depende de la existencia de una Instancia de otra Entidad que es Fuerte (acá no surgen una Relación con Identificación). </a:t>
            </a:r>
          </a:p>
        </p:txBody>
      </p:sp>
      <p:sp>
        <p:nvSpPr>
          <p:cNvPr id="11" name="CuadroTexto 10">
            <a:extLst>
              <a:ext uri="{FF2B5EF4-FFF2-40B4-BE49-F238E27FC236}">
                <a16:creationId xmlns:a16="http://schemas.microsoft.com/office/drawing/2014/main" id="{773EE73A-BA0F-B278-AF79-A582BDD9B966}"/>
              </a:ext>
            </a:extLst>
          </p:cNvPr>
          <p:cNvSpPr txBox="1"/>
          <p:nvPr/>
        </p:nvSpPr>
        <p:spPr>
          <a:xfrm>
            <a:off x="334796" y="2987675"/>
            <a:ext cx="3330492" cy="5088573"/>
          </a:xfrm>
          <a:prstGeom prst="rect">
            <a:avLst/>
          </a:prstGeom>
          <a:noFill/>
        </p:spPr>
        <p:txBody>
          <a:bodyPr wrap="square">
            <a:spAutoFit/>
          </a:bodyPr>
          <a:lstStyle/>
          <a:p>
            <a:pPr algn="just" rtl="0" fontAlgn="base">
              <a:spcBef>
                <a:spcPts val="1000"/>
              </a:spcBef>
              <a:spcAft>
                <a:spcPts val="0"/>
              </a:spcAft>
            </a:pPr>
            <a:r>
              <a:rPr lang="es-ES" sz="2800" b="1" i="0" u="none" strike="noStrike" dirty="0">
                <a:solidFill>
                  <a:srgbClr val="818990"/>
                </a:solidFill>
                <a:effectLst/>
                <a:latin typeface="Calibri" panose="020F0502020204030204" pitchFamily="34" charset="0"/>
              </a:rPr>
              <a:t>Entidad Fuerte</a:t>
            </a:r>
            <a:endParaRPr lang="es-ES" sz="2800" i="0" u="none" strike="noStrike" dirty="0">
              <a:solidFill>
                <a:srgbClr val="818990"/>
              </a:solidFill>
              <a:effectLst/>
              <a:latin typeface="Calibri" panose="020F0502020204030204" pitchFamily="34" charset="0"/>
            </a:endParaRPr>
          </a:p>
          <a:p>
            <a:pPr algn="just" rtl="0" fontAlgn="base">
              <a:spcBef>
                <a:spcPts val="1000"/>
              </a:spcBef>
              <a:spcAft>
                <a:spcPts val="0"/>
              </a:spcAft>
            </a:pPr>
            <a:r>
              <a:rPr lang="es-ES" sz="2800" i="0" u="none" strike="noStrike" dirty="0">
                <a:solidFill>
                  <a:srgbClr val="818990"/>
                </a:solidFill>
                <a:effectLst/>
                <a:latin typeface="Calibri" panose="020F0502020204030204" pitchFamily="34" charset="0"/>
              </a:rPr>
              <a:t>- La entidad posee atributos claves propios que permitan identificar en forma única cada Instancia de la Entidad.</a:t>
            </a:r>
          </a:p>
          <a:p>
            <a:pPr algn="just" rtl="0" fontAlgn="base">
              <a:spcBef>
                <a:spcPts val="1000"/>
              </a:spcBef>
              <a:spcAft>
                <a:spcPts val="0"/>
              </a:spcAft>
            </a:pPr>
            <a:r>
              <a:rPr lang="es-ES" sz="2800" i="0" u="none" strike="noStrike" dirty="0">
                <a:solidFill>
                  <a:srgbClr val="818990"/>
                </a:solidFill>
                <a:effectLst/>
                <a:latin typeface="Calibri" panose="020F0502020204030204" pitchFamily="34" charset="0"/>
              </a:rPr>
              <a:t>- La Entidad existe en el modelo sin depender de la existencia de otra.</a:t>
            </a:r>
          </a:p>
        </p:txBody>
      </p:sp>
    </p:spTree>
    <p:extLst>
      <p:ext uri="{BB962C8B-B14F-4D97-AF65-F5344CB8AC3E}">
        <p14:creationId xmlns:p14="http://schemas.microsoft.com/office/powerpoint/2010/main" val="824883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ENTIDAD DÉBIL POR EXISTENCIA</a:t>
            </a:r>
            <a:endParaRPr lang="es-CL" dirty="0"/>
          </a:p>
        </p:txBody>
      </p:sp>
      <p:sp>
        <p:nvSpPr>
          <p:cNvPr id="10" name="CuadroTexto 9">
            <a:extLst>
              <a:ext uri="{FF2B5EF4-FFF2-40B4-BE49-F238E27FC236}">
                <a16:creationId xmlns:a16="http://schemas.microsoft.com/office/drawing/2014/main" id="{2808B76C-7B20-7732-A747-05A563C6F0D0}"/>
              </a:ext>
            </a:extLst>
          </p:cNvPr>
          <p:cNvSpPr txBox="1"/>
          <p:nvPr/>
        </p:nvSpPr>
        <p:spPr>
          <a:xfrm>
            <a:off x="984250" y="6531124"/>
            <a:ext cx="18288000" cy="3365024"/>
          </a:xfrm>
          <a:prstGeom prst="rect">
            <a:avLst/>
          </a:prstGeom>
          <a:noFill/>
        </p:spPr>
        <p:txBody>
          <a:bodyPr wrap="square">
            <a:spAutoFit/>
          </a:bodyPr>
          <a:lstStyle/>
          <a:p>
            <a:pPr algn="just" rtl="0" fontAlgn="base">
              <a:spcBef>
                <a:spcPts val="1000"/>
              </a:spcBef>
              <a:spcAft>
                <a:spcPts val="0"/>
              </a:spcAft>
            </a:pPr>
            <a:r>
              <a:rPr lang="es-ES" sz="2800" i="0" u="none" strike="noStrike" dirty="0">
                <a:solidFill>
                  <a:srgbClr val="818990"/>
                </a:solidFill>
                <a:effectLst/>
                <a:latin typeface="Calibri" panose="020F0502020204030204" pitchFamily="34" charset="0"/>
              </a:rPr>
              <a:t>Por defecto, una Entidad Débil siempre va a depender de la existencia de su Entidad Fuerte. </a:t>
            </a:r>
          </a:p>
          <a:p>
            <a:pPr algn="just" rtl="0" fontAlgn="base">
              <a:spcBef>
                <a:spcPts val="1000"/>
              </a:spcBef>
              <a:spcAft>
                <a:spcPts val="0"/>
              </a:spcAft>
            </a:pPr>
            <a:r>
              <a:rPr lang="es-ES" sz="2800" i="0" u="none" strike="noStrike" dirty="0">
                <a:solidFill>
                  <a:srgbClr val="818990"/>
                </a:solidFill>
                <a:effectLst/>
                <a:latin typeface="Calibri" panose="020F0502020204030204" pitchFamily="34" charset="0"/>
              </a:rPr>
              <a:t>Esto significa que la existencia de una Instancia de la Entidad Débil depende de la existencia de una Instancia de la Entidad Fuerte. Por lo tanto, si esa Instancia de la Entidad Fuerte o Regular desaparece deben desaparecer las instancias de la Entidad Débil que dependen de ella.</a:t>
            </a:r>
          </a:p>
          <a:p>
            <a:pPr algn="just" rtl="0" fontAlgn="base">
              <a:spcBef>
                <a:spcPts val="1000"/>
              </a:spcBef>
              <a:spcAft>
                <a:spcPts val="0"/>
              </a:spcAft>
            </a:pPr>
            <a:r>
              <a:rPr lang="es-ES" sz="2800" i="0" u="none" strike="noStrike" dirty="0">
                <a:solidFill>
                  <a:srgbClr val="818990"/>
                </a:solidFill>
                <a:effectLst/>
                <a:latin typeface="Calibri" panose="020F0502020204030204" pitchFamily="34" charset="0"/>
              </a:rPr>
              <a:t>En el ejemplo, un cliente de un banco posee a lo menos una cuenta bancaria. Para que exista una cuenta bancaria DEBE existir el cliente asociado a esa cuenta. Si se elimina ese cliente, automáticamente desaparece la(s) cuenta(s) bancaria(s) asociada(s) a ese cliente. Sin embargo, si se elimina una cuenta bancaria NO necesariamente desaparece el cliente asociado. </a:t>
            </a:r>
          </a:p>
        </p:txBody>
      </p:sp>
      <p:pic>
        <p:nvPicPr>
          <p:cNvPr id="7" name="Imagen 6">
            <a:extLst>
              <a:ext uri="{FF2B5EF4-FFF2-40B4-BE49-F238E27FC236}">
                <a16:creationId xmlns:a16="http://schemas.microsoft.com/office/drawing/2014/main" id="{695A619E-EFBE-93C8-F71A-66A3D06FFFE0}"/>
              </a:ext>
            </a:extLst>
          </p:cNvPr>
          <p:cNvPicPr>
            <a:picLocks noChangeAspect="1"/>
          </p:cNvPicPr>
          <p:nvPr/>
        </p:nvPicPr>
        <p:blipFill>
          <a:blip r:embed="rId2"/>
          <a:stretch>
            <a:fillRect/>
          </a:stretch>
        </p:blipFill>
        <p:spPr>
          <a:xfrm>
            <a:off x="1664593" y="1920875"/>
            <a:ext cx="16774915" cy="4737152"/>
          </a:xfrm>
          <a:prstGeom prst="rect">
            <a:avLst/>
          </a:prstGeom>
        </p:spPr>
      </p:pic>
    </p:spTree>
    <p:extLst>
      <p:ext uri="{BB962C8B-B14F-4D97-AF65-F5344CB8AC3E}">
        <p14:creationId xmlns:p14="http://schemas.microsoft.com/office/powerpoint/2010/main" val="562854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ENTIDAD DÉBIL POR IDENTIFICACÍÓN</a:t>
            </a:r>
            <a:endParaRPr lang="es-CL" dirty="0"/>
          </a:p>
        </p:txBody>
      </p:sp>
      <p:sp>
        <p:nvSpPr>
          <p:cNvPr id="10" name="CuadroTexto 9">
            <a:extLst>
              <a:ext uri="{FF2B5EF4-FFF2-40B4-BE49-F238E27FC236}">
                <a16:creationId xmlns:a16="http://schemas.microsoft.com/office/drawing/2014/main" id="{2808B76C-7B20-7732-A747-05A563C6F0D0}"/>
              </a:ext>
            </a:extLst>
          </p:cNvPr>
          <p:cNvSpPr txBox="1"/>
          <p:nvPr/>
        </p:nvSpPr>
        <p:spPr>
          <a:xfrm>
            <a:off x="984250" y="6685091"/>
            <a:ext cx="18288000" cy="3236784"/>
          </a:xfrm>
          <a:prstGeom prst="rect">
            <a:avLst/>
          </a:prstGeom>
          <a:noFill/>
        </p:spPr>
        <p:txBody>
          <a:bodyPr wrap="square">
            <a:spAutoFit/>
          </a:bodyPr>
          <a:lstStyle/>
          <a:p>
            <a:pPr algn="just" rtl="0" fontAlgn="base">
              <a:spcBef>
                <a:spcPts val="1000"/>
              </a:spcBef>
              <a:spcAft>
                <a:spcPts val="0"/>
              </a:spcAft>
            </a:pPr>
            <a:r>
              <a:rPr lang="es-ES" sz="2800" i="0" u="none" strike="noStrike" dirty="0">
                <a:solidFill>
                  <a:srgbClr val="818990"/>
                </a:solidFill>
                <a:effectLst/>
                <a:latin typeface="Calibri" panose="020F0502020204030204" pitchFamily="34" charset="0"/>
              </a:rPr>
              <a:t>Cada una de sus instancias no se puede identificar por sí misma, por lo tanto, necesita de su Entidad Fuerte. En este caso, como la Entidad no tiene suficientes atributos que permitan identificar en forma única cada una de sus instancias necesita que la Entidad Fuerte le "preste" sus atributos identificadores para que cada Instancia se pueda identificar complemente.</a:t>
            </a:r>
          </a:p>
          <a:p>
            <a:pPr algn="just" rtl="0" fontAlgn="base">
              <a:spcBef>
                <a:spcPts val="1000"/>
              </a:spcBef>
              <a:spcAft>
                <a:spcPts val="0"/>
              </a:spcAft>
            </a:pPr>
            <a:r>
              <a:rPr lang="es-ES" sz="2800" i="0" u="none" strike="noStrike" dirty="0">
                <a:solidFill>
                  <a:srgbClr val="818990"/>
                </a:solidFill>
                <a:effectLst/>
                <a:latin typeface="Calibri" panose="020F0502020204030204" pitchFamily="34" charset="0"/>
              </a:rPr>
              <a:t>En el ejemplo, la edición de un libro no se puede identificar solamente por el número de la edición ya que el mismo número de edición puede estar asociado a más de un libro. Por esta razón, para identificar de forma única una edición de un libro se requiere saber además el ISBN del libro asociado. Esto en modelamiento significa que cada instancia de la entidad edición para que sea única requiere además del identificador único de la entidad LIBRO.</a:t>
            </a:r>
          </a:p>
        </p:txBody>
      </p:sp>
      <p:pic>
        <p:nvPicPr>
          <p:cNvPr id="7" name="Imagen 6">
            <a:extLst>
              <a:ext uri="{FF2B5EF4-FFF2-40B4-BE49-F238E27FC236}">
                <a16:creationId xmlns:a16="http://schemas.microsoft.com/office/drawing/2014/main" id="{695A619E-EFBE-93C8-F71A-66A3D06FFFE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49852" y="1387475"/>
            <a:ext cx="13004396" cy="5486400"/>
          </a:xfrm>
          <a:prstGeom prst="rect">
            <a:avLst/>
          </a:prstGeom>
        </p:spPr>
      </p:pic>
    </p:spTree>
    <p:extLst>
      <p:ext uri="{BB962C8B-B14F-4D97-AF65-F5344CB8AC3E}">
        <p14:creationId xmlns:p14="http://schemas.microsoft.com/office/powerpoint/2010/main" val="3618546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TIPOS DE ENTIDADES - EJEMPLOS</a:t>
            </a:r>
            <a:endParaRPr lang="es-CL" dirty="0"/>
          </a:p>
        </p:txBody>
      </p:sp>
      <p:pic>
        <p:nvPicPr>
          <p:cNvPr id="5" name="Imagen 4">
            <a:extLst>
              <a:ext uri="{FF2B5EF4-FFF2-40B4-BE49-F238E27FC236}">
                <a16:creationId xmlns:a16="http://schemas.microsoft.com/office/drawing/2014/main" id="{92B8D694-201F-9171-8F67-2E926BF2F693}"/>
              </a:ext>
            </a:extLst>
          </p:cNvPr>
          <p:cNvPicPr>
            <a:picLocks noChangeAspect="1"/>
          </p:cNvPicPr>
          <p:nvPr/>
        </p:nvPicPr>
        <p:blipFill rotWithShape="1">
          <a:blip r:embed="rId2"/>
          <a:srcRect t="4673" b="1765"/>
          <a:stretch/>
        </p:blipFill>
        <p:spPr>
          <a:xfrm>
            <a:off x="2063115" y="1844675"/>
            <a:ext cx="15977869" cy="8077200"/>
          </a:xfrm>
          <a:prstGeom prst="rect">
            <a:avLst/>
          </a:prstGeom>
        </p:spPr>
      </p:pic>
    </p:spTree>
    <p:extLst>
      <p:ext uri="{BB962C8B-B14F-4D97-AF65-F5344CB8AC3E}">
        <p14:creationId xmlns:p14="http://schemas.microsoft.com/office/powerpoint/2010/main" val="155512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E9A3AE23414AD41A4F4D6368514CED2" ma:contentTypeVersion="13" ma:contentTypeDescription="Crear nuevo documento." ma:contentTypeScope="" ma:versionID="e5b9210409080ab1878d310b63a91de2">
  <xsd:schema xmlns:xsd="http://www.w3.org/2001/XMLSchema" xmlns:xs="http://www.w3.org/2001/XMLSchema" xmlns:p="http://schemas.microsoft.com/office/2006/metadata/properties" xmlns:ns2="dbb86751-ad4c-49ff-a33d-b7314027950b" xmlns:ns3="4215e297-5d6e-42b1-b795-55976a17412c" targetNamespace="http://schemas.microsoft.com/office/2006/metadata/properties" ma:root="true" ma:fieldsID="13f1ec48c0d2d83b68390b1e0be9568b" ns2:_="" ns3:_="">
    <xsd:import namespace="dbb86751-ad4c-49ff-a33d-b7314027950b"/>
    <xsd:import namespace="4215e297-5d6e-42b1-b795-55976a17412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b86751-ad4c-49ff-a33d-b731402795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e2f773bf-f00b-42a6-8b07-050935be226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215e297-5d6e-42b1-b795-55976a17412c"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f8d5977e-d2ec-4115-827c-1393f5edec4a}" ma:internalName="TaxCatchAll" ma:showField="CatchAllData" ma:web="4215e297-5d6e-42b1-b795-55976a1741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bb86751-ad4c-49ff-a33d-b7314027950b">
      <Terms xmlns="http://schemas.microsoft.com/office/infopath/2007/PartnerControls"/>
    </lcf76f155ced4ddcb4097134ff3c332f>
    <TaxCatchAll xmlns="4215e297-5d6e-42b1-b795-55976a17412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BF0A18-574F-4CFD-981D-5882D69445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b86751-ad4c-49ff-a33d-b7314027950b"/>
    <ds:schemaRef ds:uri="4215e297-5d6e-42b1-b795-55976a1741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D821600-D61B-433B-B6F8-A294D9BC75DD}">
  <ds:schemaRefs>
    <ds:schemaRef ds:uri="http://schemas.microsoft.com/office/2006/metadata/properties"/>
    <ds:schemaRef ds:uri="http://schemas.microsoft.com/office/infopath/2007/PartnerControls"/>
    <ds:schemaRef ds:uri="dbb86751-ad4c-49ff-a33d-b7314027950b"/>
    <ds:schemaRef ds:uri="4215e297-5d6e-42b1-b795-55976a17412c"/>
  </ds:schemaRefs>
</ds:datastoreItem>
</file>

<file path=customXml/itemProps3.xml><?xml version="1.0" encoding="utf-8"?>
<ds:datastoreItem xmlns:ds="http://schemas.openxmlformats.org/officeDocument/2006/customXml" ds:itemID="{64C43652-73DC-4C77-8E79-F06010C18C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4080</TotalTime>
  <Words>1758</Words>
  <Application>Microsoft Office PowerPoint</Application>
  <PresentationFormat>Personalizado</PresentationFormat>
  <Paragraphs>125</Paragraphs>
  <Slides>22</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Arial Black</vt:lpstr>
      <vt:lpstr>Calibri</vt:lpstr>
      <vt:lpstr>Times New Roman</vt:lpstr>
      <vt:lpstr>Office Theme</vt:lpstr>
      <vt:lpstr>BDY1101 Elementos de un Modelo Conceptual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NARRATIVAS DE USUARIO</vt:lpstr>
      <vt:lpstr>NARRATIVAS DE USUARIO</vt:lpstr>
      <vt:lpstr>Presentación de PowerPoint</vt:lpstr>
      <vt:lpstr>Presentación de PowerPoint</vt:lpstr>
      <vt:lpstr>Presentación de PowerPoint</vt:lpstr>
      <vt:lpstr>ENTIDADES</vt:lpstr>
      <vt:lpstr>ENTIDADES</vt:lpstr>
      <vt:lpstr>RECONOCIENDO ENTIDADES</vt:lpstr>
      <vt:lpstr>TIPOS DE ENTIDADES</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c:title>
  <dc:creator>Daniela Taito R.</dc:creator>
  <cp:lastModifiedBy>Ivandavid Bilbao Barrenechea</cp:lastModifiedBy>
  <cp:revision>373</cp:revision>
  <dcterms:created xsi:type="dcterms:W3CDTF">2022-07-20T19:15:37Z</dcterms:created>
  <dcterms:modified xsi:type="dcterms:W3CDTF">2024-03-20T00:27:40Z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